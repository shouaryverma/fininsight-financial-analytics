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1.xml" ContentType="application/vnd.openxmlformats-officedocument.drawingml.chartshape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15630B8E-4C22-4569-89AE-C79D48D79318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46EA"/>
    <a:srgbClr val="E7EAF2"/>
    <a:srgbClr val="B9AAFF"/>
    <a:srgbClr val="111844"/>
    <a:srgbClr val="25284A"/>
    <a:srgbClr val="464D7C"/>
    <a:srgbClr val="16B7A4"/>
    <a:srgbClr val="F0838A"/>
    <a:srgbClr val="F0ED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9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62" b="0" i="0" u="none" strike="noStrike" baseline="0" dirty="0"/>
              <a:t>Actual vs Budget by Category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($M)</c:v>
                </c:pt>
              </c:strCache>
            </c:strRef>
          </c:tx>
          <c:spPr>
            <a:solidFill>
              <a:srgbClr val="6246EA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Payroll</c:v>
                </c:pt>
                <c:pt idx="1">
                  <c:v>Outsourced Resources</c:v>
                </c:pt>
                <c:pt idx="2">
                  <c:v>Other People</c:v>
                </c:pt>
                <c:pt idx="3">
                  <c:v>Product Development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411.99</c:v>
                </c:pt>
                <c:pt idx="1">
                  <c:v>176.67</c:v>
                </c:pt>
                <c:pt idx="2">
                  <c:v>39.229999999999997</c:v>
                </c:pt>
                <c:pt idx="3">
                  <c:v>5.85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43-40BB-B7AC-C2C407DBE0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 ($M)</c:v>
                </c:pt>
              </c:strCache>
            </c:strRef>
          </c:tx>
          <c:spPr>
            <a:solidFill>
              <a:srgbClr val="B9AAFF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Payroll</c:v>
                </c:pt>
                <c:pt idx="1">
                  <c:v>Outsourced Resources</c:v>
                </c:pt>
                <c:pt idx="2">
                  <c:v>Other People</c:v>
                </c:pt>
                <c:pt idx="3">
                  <c:v>Product Development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483.3</c:v>
                </c:pt>
                <c:pt idx="1">
                  <c:v>222.85</c:v>
                </c:pt>
                <c:pt idx="2">
                  <c:v>35.630000000000003</c:v>
                </c:pt>
                <c:pt idx="3">
                  <c:v>4.32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F43-40BB-B7AC-C2C407DBE0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51031104"/>
        <c:axId val="1344292560"/>
      </c:barChart>
      <c:catAx>
        <c:axId val="135103110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4292560"/>
        <c:crosses val="autoZero"/>
        <c:auto val="1"/>
        <c:lblAlgn val="ctr"/>
        <c:lblOffset val="100"/>
        <c:noMultiLvlLbl val="0"/>
      </c:catAx>
      <c:valAx>
        <c:axId val="13442925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1031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>
      <a:softEdge rad="25400"/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62" b="0" i="0" u="none" strike="noStrike" baseline="0" dirty="0"/>
              <a:t>Expenses by Department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Expenses ($M)</c:v>
                </c:pt>
              </c:strCache>
            </c:strRef>
          </c:tx>
          <c:spPr>
            <a:solidFill>
              <a:srgbClr val="6246EA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General &amp; Administrative</c:v>
                </c:pt>
                <c:pt idx="1">
                  <c:v>Research &amp; Development</c:v>
                </c:pt>
                <c:pt idx="2">
                  <c:v>Sales &amp; Marketing</c:v>
                </c:pt>
                <c:pt idx="3">
                  <c:v>Cost of Goods Sold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307.72000000000003</c:v>
                </c:pt>
                <c:pt idx="1">
                  <c:v>292.74</c:v>
                </c:pt>
                <c:pt idx="2">
                  <c:v>16.579999999999998</c:v>
                </c:pt>
                <c:pt idx="3">
                  <c:v>9.68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A7-4D14-B63F-31299640F61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 ($M)</c:v>
                </c:pt>
              </c:strCache>
            </c:strRef>
          </c:tx>
          <c:spPr>
            <a:solidFill>
              <a:srgbClr val="C4B7FF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General &amp; Administrative</c:v>
                </c:pt>
                <c:pt idx="1">
                  <c:v>Research &amp; Development</c:v>
                </c:pt>
                <c:pt idx="2">
                  <c:v>Sales &amp; Marketing</c:v>
                </c:pt>
                <c:pt idx="3">
                  <c:v>Cost of Goods Sold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358.06</c:v>
                </c:pt>
                <c:pt idx="1">
                  <c:v>351.25</c:v>
                </c:pt>
                <c:pt idx="2">
                  <c:v>24.03</c:v>
                </c:pt>
                <c:pt idx="3">
                  <c:v>11.58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A7-4D14-B63F-31299640F6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50552544"/>
        <c:axId val="1344417360"/>
      </c:barChart>
      <c:catAx>
        <c:axId val="13505525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4417360"/>
        <c:crosses val="autoZero"/>
        <c:auto val="1"/>
        <c:lblAlgn val="ctr"/>
        <c:lblOffset val="100"/>
        <c:noMultiLvlLbl val="0"/>
      </c:catAx>
      <c:valAx>
        <c:axId val="13444173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05525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62" b="0" i="0" u="none" strike="noStrike" baseline="0" dirty="0"/>
              <a:t>Actual vs October Forecast by Month</a:t>
            </a:r>
            <a:endParaRPr lang="en-IN" dirty="0"/>
          </a:p>
        </c:rich>
      </c:tx>
      <c:layout>
        <c:manualLayout>
          <c:xMode val="edge"/>
          <c:yMode val="edge"/>
          <c:x val="0.1217339908686559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($M)</c:v>
                </c:pt>
              </c:strCache>
            </c:strRef>
          </c:tx>
          <c:spPr>
            <a:solidFill>
              <a:srgbClr val="6246EA"/>
            </a:solidFill>
            <a:ln>
              <a:noFill/>
            </a:ln>
            <a:effectLst/>
          </c:spPr>
          <c:invertIfNegative val="0"/>
          <c:cat>
            <c:numRef>
              <c:f>Sheet1!$A$2:$A$7</c:f>
              <c:numCache>
                <c:formatCode>mmm\-yy</c:formatCode>
                <c:ptCount val="6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111.86</c:v>
                </c:pt>
                <c:pt idx="1">
                  <c:v>72.08</c:v>
                </c:pt>
                <c:pt idx="2">
                  <c:v>141.57</c:v>
                </c:pt>
                <c:pt idx="3">
                  <c:v>130.61000000000001</c:v>
                </c:pt>
                <c:pt idx="4">
                  <c:v>135.56</c:v>
                </c:pt>
                <c:pt idx="5">
                  <c:v>35.049999999999997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11-467A-AD4A-57D444406E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October Forecast ($M)</c:v>
                </c:pt>
              </c:strCache>
            </c:strRef>
          </c:tx>
          <c:spPr>
            <a:solidFill>
              <a:srgbClr val="B9AAFF"/>
            </a:solidFill>
            <a:ln>
              <a:noFill/>
            </a:ln>
            <a:effectLst/>
          </c:spPr>
          <c:invertIfNegative val="0"/>
          <c:cat>
            <c:numRef>
              <c:f>Sheet1!$A$2:$A$7</c:f>
              <c:numCache>
                <c:formatCode>mmm\-yy</c:formatCode>
                <c:ptCount val="6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109.19</c:v>
                </c:pt>
                <c:pt idx="1">
                  <c:v>131.71</c:v>
                </c:pt>
                <c:pt idx="2">
                  <c:v>143.30000000000001</c:v>
                </c:pt>
                <c:pt idx="3">
                  <c:v>133.24</c:v>
                </c:pt>
                <c:pt idx="4">
                  <c:v>135.16</c:v>
                </c:pt>
                <c:pt idx="5">
                  <c:v>140.66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11-467A-AD4A-57D444406E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78459584"/>
        <c:axId val="1344294960"/>
      </c:barChart>
      <c:dateAx>
        <c:axId val="147845958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4294960"/>
        <c:crossesAt val="2"/>
        <c:auto val="1"/>
        <c:lblOffset val="100"/>
        <c:baseTimeUnit val="months"/>
      </c:dateAx>
      <c:valAx>
        <c:axId val="1344294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0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8459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6246EA"/>
            </a:solidFill>
          </c:spPr>
          <c:dPt>
            <c:idx val="0"/>
            <c:bubble3D val="0"/>
            <c:spPr>
              <a:solidFill>
                <a:srgbClr val="6246E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93E-4400-A7CA-B3D6C963BAEC}"/>
              </c:ext>
            </c:extLst>
          </c:dPt>
          <c:dPt>
            <c:idx val="1"/>
            <c:bubble3D val="0"/>
            <c:spPr>
              <a:solidFill>
                <a:srgbClr val="464D7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AD5-417D-9F20-FD2C9FEE57B8}"/>
              </c:ext>
            </c:extLst>
          </c:dPt>
          <c:dPt>
            <c:idx val="2"/>
            <c:bubble3D val="0"/>
            <c:spPr>
              <a:solidFill>
                <a:srgbClr val="6246E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93E-4400-A7CA-B3D6C963BAEC}"/>
              </c:ext>
            </c:extLst>
          </c:dPt>
          <c:dPt>
            <c:idx val="3"/>
            <c:bubble3D val="0"/>
            <c:spPr>
              <a:solidFill>
                <a:srgbClr val="6246E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93E-4400-A7CA-B3D6C963BAEC}"/>
              </c:ext>
            </c:extLst>
          </c:dPt>
          <c:cat>
            <c:strRef>
              <c:f>Sheet1!$A$2:$A$5</c:f>
              <c:strCache>
                <c:ptCount val="2"/>
                <c:pt idx="0">
                  <c:v>Utilized</c:v>
                </c:pt>
                <c:pt idx="1">
                  <c:v>Remaining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84.13</c:v>
                </c:pt>
                <c:pt idx="1">
                  <c:v>15.87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D5-417D-9F20-FD2C9FEE57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0.34555</cdr:x>
      <cdr:y>0.39741</cdr:y>
    </cdr:from>
    <cdr:to>
      <cdr:x>0.71573</cdr:x>
      <cdr:y>0.75866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F2AFCC0D-8760-3073-F53C-A0BC335CE177}"/>
            </a:ext>
          </a:extLst>
        </cdr:cNvPr>
        <cdr:cNvSpPr txBox="1"/>
      </cdr:nvSpPr>
      <cdr:spPr>
        <a:xfrm xmlns:a="http://schemas.openxmlformats.org/drawingml/2006/main">
          <a:off x="759994" y="491514"/>
          <a:ext cx="814176" cy="44677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200" b="1" kern="1200" dirty="0">
              <a:solidFill>
                <a:schemeClr val="bg1"/>
              </a:solidFill>
            </a:rPr>
            <a:t>84.13%</a:t>
          </a:r>
          <a:endParaRPr lang="en-IN" sz="1200" b="1" kern="1200" dirty="0">
            <a:solidFill>
              <a:schemeClr val="bg1"/>
            </a:solidFill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2866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E2372-E1EE-DEC2-F776-BBCE4350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2DB805-BF60-556C-0114-FC8AC6B79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3F91D-BDBF-BC52-B40A-22F34A47D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A032B-525C-AF8C-0111-60F6E95662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163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3B002-5EE5-C208-FBED-74B14C9F2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8B3E4F-69C8-660D-8068-286CE3DCD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CBADC3-9B2A-D5E9-E910-4338E6FD9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4A4E6-1F6E-6D38-8686-4F3AA92817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607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E3296-6E1A-718E-A35E-2D3657431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1DC95-53DE-9E2B-2FAE-DF38BD740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F3251-65D2-A06D-5DAB-524721963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DC995-D046-377A-98ED-5148DCAC58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257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D8E27-BADA-324E-21FF-E6AA16851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0536B3-1F0F-9497-D7DE-9A7E439A6D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5E1F2D-66A0-CF8E-949F-2B29C5906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F1FF2-5C65-FEDE-5268-9394B486CF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66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B9127-0D77-AD86-0D67-589D975EE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A3A95B-DBA2-B6B5-941C-7111488EA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2ABAC2-7764-115C-4353-A6243B633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7B10A-1D51-F301-842C-8AD8D0680C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558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BAA18-42C3-BDA4-D564-DE8F8B56A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F09649-CCC3-1B23-0F3A-6648C179D7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05CA30-608B-F949-C516-D44C07E34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C980D-8648-C099-F4A2-CD0D5E2DB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830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974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126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820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618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604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437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959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191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34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402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224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68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svg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17" Type="http://schemas.openxmlformats.org/officeDocument/2006/relationships/slide" Target="slide5.xml"/><Relationship Id="rId2" Type="http://schemas.openxmlformats.org/officeDocument/2006/relationships/notesSlide" Target="../notesSlides/notesSlide1.xml"/><Relationship Id="rId16" Type="http://schemas.openxmlformats.org/officeDocument/2006/relationships/slide" Target="slide4.xml"/><Relationship Id="rId20" Type="http://schemas.openxmlformats.org/officeDocument/2006/relationships/slide" Target="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png"/><Relationship Id="rId15" Type="http://schemas.openxmlformats.org/officeDocument/2006/relationships/slide" Target="slide3.xml"/><Relationship Id="rId10" Type="http://schemas.openxmlformats.org/officeDocument/2006/relationships/image" Target="../media/image7.svg"/><Relationship Id="rId19" Type="http://schemas.openxmlformats.org/officeDocument/2006/relationships/slide" Target="slide6.xml"/><Relationship Id="rId4" Type="http://schemas.openxmlformats.org/officeDocument/2006/relationships/slide" Target="slide2.xml"/><Relationship Id="rId9" Type="http://schemas.openxmlformats.org/officeDocument/2006/relationships/image" Target="../media/image6.svg"/><Relationship Id="rId14" Type="http://schemas.openxmlformats.org/officeDocument/2006/relationships/image" Target="../media/image11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18" Type="http://schemas.openxmlformats.org/officeDocument/2006/relationships/image" Target="../media/image18.svg"/><Relationship Id="rId3" Type="http://schemas.openxmlformats.org/officeDocument/2006/relationships/image" Target="../media/image5.svg"/><Relationship Id="rId21" Type="http://schemas.openxmlformats.org/officeDocument/2006/relationships/image" Target="../media/image21.sv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17" Type="http://schemas.openxmlformats.org/officeDocument/2006/relationships/slide" Target="slide3.xml"/><Relationship Id="rId25" Type="http://schemas.openxmlformats.org/officeDocument/2006/relationships/slide" Target="slide7.xml"/><Relationship Id="rId2" Type="http://schemas.openxmlformats.org/officeDocument/2006/relationships/notesSlide" Target="../notesSlides/notesSlide2.xml"/><Relationship Id="rId16" Type="http://schemas.openxmlformats.org/officeDocument/2006/relationships/slide" Target="slide1.xml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3.svg"/><Relationship Id="rId24" Type="http://schemas.openxmlformats.org/officeDocument/2006/relationships/slide" Target="slide6.xml"/><Relationship Id="rId5" Type="http://schemas.openxmlformats.org/officeDocument/2006/relationships/image" Target="../media/image7.svg"/><Relationship Id="rId15" Type="http://schemas.openxmlformats.org/officeDocument/2006/relationships/image" Target="../media/image17.png"/><Relationship Id="rId23" Type="http://schemas.openxmlformats.org/officeDocument/2006/relationships/slide" Target="slide5.xml"/><Relationship Id="rId10" Type="http://schemas.openxmlformats.org/officeDocument/2006/relationships/image" Target="../media/image1.png"/><Relationship Id="rId19" Type="http://schemas.openxmlformats.org/officeDocument/2006/relationships/image" Target="../media/image19.svg"/><Relationship Id="rId4" Type="http://schemas.openxmlformats.org/officeDocument/2006/relationships/image" Target="../media/image6.svg"/><Relationship Id="rId9" Type="http://schemas.openxmlformats.org/officeDocument/2006/relationships/image" Target="../media/image11.svg"/><Relationship Id="rId14" Type="http://schemas.openxmlformats.org/officeDocument/2006/relationships/image" Target="../media/image16.png"/><Relationship Id="rId22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22.svg"/><Relationship Id="rId18" Type="http://schemas.openxmlformats.org/officeDocument/2006/relationships/image" Target="../media/image26.svg"/><Relationship Id="rId3" Type="http://schemas.openxmlformats.org/officeDocument/2006/relationships/image" Target="../media/image5.svg"/><Relationship Id="rId21" Type="http://schemas.openxmlformats.org/officeDocument/2006/relationships/image" Target="../media/image29.svg"/><Relationship Id="rId7" Type="http://schemas.openxmlformats.org/officeDocument/2006/relationships/image" Target="../media/image9.svg"/><Relationship Id="rId12" Type="http://schemas.openxmlformats.org/officeDocument/2006/relationships/slide" Target="slide2.xml"/><Relationship Id="rId17" Type="http://schemas.openxmlformats.org/officeDocument/2006/relationships/image" Target="../media/image25.svg"/><Relationship Id="rId25" Type="http://schemas.openxmlformats.org/officeDocument/2006/relationships/slide" Target="slide7.xml"/><Relationship Id="rId2" Type="http://schemas.openxmlformats.org/officeDocument/2006/relationships/notesSlide" Target="../notesSlides/notesSlide3.xml"/><Relationship Id="rId16" Type="http://schemas.openxmlformats.org/officeDocument/2006/relationships/chart" Target="../charts/chart1.xml"/><Relationship Id="rId20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slide" Target="slide1.xml"/><Relationship Id="rId24" Type="http://schemas.openxmlformats.org/officeDocument/2006/relationships/slide" Target="slide6.xml"/><Relationship Id="rId5" Type="http://schemas.openxmlformats.org/officeDocument/2006/relationships/image" Target="../media/image7.svg"/><Relationship Id="rId15" Type="http://schemas.openxmlformats.org/officeDocument/2006/relationships/image" Target="../media/image24.svg"/><Relationship Id="rId23" Type="http://schemas.openxmlformats.org/officeDocument/2006/relationships/slide" Target="slide5.xml"/><Relationship Id="rId10" Type="http://schemas.openxmlformats.org/officeDocument/2006/relationships/image" Target="../media/image1.png"/><Relationship Id="rId19" Type="http://schemas.openxmlformats.org/officeDocument/2006/relationships/image" Target="../media/image27.svg"/><Relationship Id="rId4" Type="http://schemas.openxmlformats.org/officeDocument/2006/relationships/image" Target="../media/image6.svg"/><Relationship Id="rId9" Type="http://schemas.openxmlformats.org/officeDocument/2006/relationships/image" Target="../media/image11.svg"/><Relationship Id="rId14" Type="http://schemas.openxmlformats.org/officeDocument/2006/relationships/image" Target="../media/image23.svg"/><Relationship Id="rId22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chart" Target="../charts/chart2.xml"/><Relationship Id="rId18" Type="http://schemas.openxmlformats.org/officeDocument/2006/relationships/slide" Target="slide5.xml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slide" Target="slide2.xml"/><Relationship Id="rId17" Type="http://schemas.openxmlformats.org/officeDocument/2006/relationships/slide" Target="slide3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2.svg"/><Relationship Id="rId20" Type="http://schemas.openxmlformats.org/officeDocument/2006/relationships/slide" Target="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slide" Target="slide1.xml"/><Relationship Id="rId5" Type="http://schemas.openxmlformats.org/officeDocument/2006/relationships/image" Target="../media/image7.svg"/><Relationship Id="rId15" Type="http://schemas.openxmlformats.org/officeDocument/2006/relationships/image" Target="../media/image31.svg"/><Relationship Id="rId10" Type="http://schemas.openxmlformats.org/officeDocument/2006/relationships/image" Target="../media/image1.png"/><Relationship Id="rId19" Type="http://schemas.openxmlformats.org/officeDocument/2006/relationships/slide" Target="slide6.xml"/><Relationship Id="rId4" Type="http://schemas.openxmlformats.org/officeDocument/2006/relationships/image" Target="../media/image6.svg"/><Relationship Id="rId9" Type="http://schemas.openxmlformats.org/officeDocument/2006/relationships/image" Target="../media/image11.svg"/><Relationship Id="rId14" Type="http://schemas.openxmlformats.org/officeDocument/2006/relationships/image" Target="../media/image3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slide" Target="slide3.xml"/><Relationship Id="rId18" Type="http://schemas.openxmlformats.org/officeDocument/2006/relationships/image" Target="../media/image36.svg"/><Relationship Id="rId3" Type="http://schemas.openxmlformats.org/officeDocument/2006/relationships/image" Target="../media/image5.svg"/><Relationship Id="rId21" Type="http://schemas.openxmlformats.org/officeDocument/2006/relationships/slide" Target="slide7.xml"/><Relationship Id="rId7" Type="http://schemas.openxmlformats.org/officeDocument/2006/relationships/image" Target="../media/image9.svg"/><Relationship Id="rId12" Type="http://schemas.openxmlformats.org/officeDocument/2006/relationships/slide" Target="slide2.xml"/><Relationship Id="rId17" Type="http://schemas.openxmlformats.org/officeDocument/2006/relationships/image" Target="../media/image35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4.svg"/><Relationship Id="rId20" Type="http://schemas.openxmlformats.org/officeDocument/2006/relationships/slide" Target="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slide" Target="slide1.xml"/><Relationship Id="rId5" Type="http://schemas.openxmlformats.org/officeDocument/2006/relationships/image" Target="../media/image7.svg"/><Relationship Id="rId15" Type="http://schemas.openxmlformats.org/officeDocument/2006/relationships/image" Target="../media/image33.svg"/><Relationship Id="rId10" Type="http://schemas.openxmlformats.org/officeDocument/2006/relationships/image" Target="../media/image1.png"/><Relationship Id="rId19" Type="http://schemas.openxmlformats.org/officeDocument/2006/relationships/chart" Target="../charts/chart3.xml"/><Relationship Id="rId4" Type="http://schemas.openxmlformats.org/officeDocument/2006/relationships/image" Target="../media/image6.svg"/><Relationship Id="rId9" Type="http://schemas.openxmlformats.org/officeDocument/2006/relationships/image" Target="../media/image11.svg"/><Relationship Id="rId1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slide" Target="slide3.xml"/><Relationship Id="rId18" Type="http://schemas.openxmlformats.org/officeDocument/2006/relationships/image" Target="../media/image39.svg"/><Relationship Id="rId3" Type="http://schemas.openxmlformats.org/officeDocument/2006/relationships/image" Target="../media/image1.png"/><Relationship Id="rId21" Type="http://schemas.openxmlformats.org/officeDocument/2006/relationships/slide" Target="slide5.xml"/><Relationship Id="rId7" Type="http://schemas.openxmlformats.org/officeDocument/2006/relationships/image" Target="../media/image8.svg"/><Relationship Id="rId12" Type="http://schemas.openxmlformats.org/officeDocument/2006/relationships/slide" Target="slide2.xml"/><Relationship Id="rId17" Type="http://schemas.openxmlformats.org/officeDocument/2006/relationships/image" Target="../media/image38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4.svg"/><Relationship Id="rId20" Type="http://schemas.openxmlformats.org/officeDocument/2006/relationships/chart" Target="../charts/chart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slide" Target="slide1.xml"/><Relationship Id="rId5" Type="http://schemas.openxmlformats.org/officeDocument/2006/relationships/image" Target="../media/image6.svg"/><Relationship Id="rId15" Type="http://schemas.openxmlformats.org/officeDocument/2006/relationships/image" Target="../media/image37.svg"/><Relationship Id="rId10" Type="http://schemas.openxmlformats.org/officeDocument/2006/relationships/image" Target="../media/image11.svg"/><Relationship Id="rId19" Type="http://schemas.openxmlformats.org/officeDocument/2006/relationships/image" Target="../media/image13.svg"/><Relationship Id="rId4" Type="http://schemas.openxmlformats.org/officeDocument/2006/relationships/image" Target="../media/image5.svg"/><Relationship Id="rId9" Type="http://schemas.openxmlformats.org/officeDocument/2006/relationships/image" Target="../media/image10.svg"/><Relationship Id="rId14" Type="http://schemas.openxmlformats.org/officeDocument/2006/relationships/slide" Target="slide4.xml"/><Relationship Id="rId22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slide" Target="slide3.xml"/><Relationship Id="rId18" Type="http://schemas.openxmlformats.org/officeDocument/2006/relationships/image" Target="../media/image14.png"/><Relationship Id="rId3" Type="http://schemas.openxmlformats.org/officeDocument/2006/relationships/image" Target="../media/image1.png"/><Relationship Id="rId21" Type="http://schemas.openxmlformats.org/officeDocument/2006/relationships/image" Target="../media/image41.svg"/><Relationship Id="rId7" Type="http://schemas.openxmlformats.org/officeDocument/2006/relationships/image" Target="../media/image8.svg"/><Relationship Id="rId12" Type="http://schemas.openxmlformats.org/officeDocument/2006/relationships/slide" Target="slide2.xml"/><Relationship Id="rId17" Type="http://schemas.openxmlformats.org/officeDocument/2006/relationships/slide" Target="slide6.xml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0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slide" Target="slide1.xml"/><Relationship Id="rId5" Type="http://schemas.openxmlformats.org/officeDocument/2006/relationships/image" Target="../media/image6.svg"/><Relationship Id="rId15" Type="http://schemas.openxmlformats.org/officeDocument/2006/relationships/slide" Target="slide5.xml"/><Relationship Id="rId23" Type="http://schemas.openxmlformats.org/officeDocument/2006/relationships/image" Target="../media/image13.svg"/><Relationship Id="rId10" Type="http://schemas.openxmlformats.org/officeDocument/2006/relationships/image" Target="../media/image11.svg"/><Relationship Id="rId19" Type="http://schemas.openxmlformats.org/officeDocument/2006/relationships/image" Target="../media/image2.png"/><Relationship Id="rId4" Type="http://schemas.openxmlformats.org/officeDocument/2006/relationships/image" Target="../media/image5.svg"/><Relationship Id="rId9" Type="http://schemas.openxmlformats.org/officeDocument/2006/relationships/image" Target="../media/image10.svg"/><Relationship Id="rId14" Type="http://schemas.openxmlformats.org/officeDocument/2006/relationships/slide" Target="slide4.xml"/><Relationship Id="rId22" Type="http://schemas.openxmlformats.org/officeDocument/2006/relationships/image" Target="../media/image4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Oval 72">
            <a:extLst>
              <a:ext uri="{FF2B5EF4-FFF2-40B4-BE49-F238E27FC236}">
                <a16:creationId xmlns:a16="http://schemas.microsoft.com/office/drawing/2014/main" id="{C9812AEE-D118-D568-9D2F-AB028234AD49}"/>
              </a:ext>
            </a:extLst>
          </p:cNvPr>
          <p:cNvSpPr/>
          <p:nvPr/>
        </p:nvSpPr>
        <p:spPr>
          <a:xfrm>
            <a:off x="-3049088" y="2157722"/>
            <a:ext cx="4572000" cy="4526155"/>
          </a:xfrm>
          <a:prstGeom prst="ellipse">
            <a:avLst/>
          </a:prstGeom>
          <a:solidFill>
            <a:srgbClr val="6246EA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72193E9B-55D0-DBD3-29E5-DD10C432DA71}"/>
              </a:ext>
            </a:extLst>
          </p:cNvPr>
          <p:cNvSpPr/>
          <p:nvPr/>
        </p:nvSpPr>
        <p:spPr>
          <a:xfrm>
            <a:off x="-2537572" y="3452179"/>
            <a:ext cx="5072743" cy="5108113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F1522EF6-BDE0-C8BB-9504-6E0A8812D7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>
            <a:off x="2064292" y="-27552"/>
            <a:ext cx="10218581" cy="6913104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FD3ECAC-4285-5407-E226-93FDB70A6F7D}"/>
              </a:ext>
            </a:extLst>
          </p:cNvPr>
          <p:cNvSpPr/>
          <p:nvPr/>
        </p:nvSpPr>
        <p:spPr>
          <a:xfrm>
            <a:off x="-1" y="0"/>
            <a:ext cx="2057400" cy="6858000"/>
          </a:xfrm>
          <a:prstGeom prst="rect">
            <a:avLst/>
          </a:prstGeom>
          <a:solidFill>
            <a:srgbClr val="1018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FFC61B-838A-52DB-52CF-96694D8C582C}"/>
              </a:ext>
            </a:extLst>
          </p:cNvPr>
          <p:cNvSpPr txBox="1"/>
          <p:nvPr/>
        </p:nvSpPr>
        <p:spPr>
          <a:xfrm>
            <a:off x="-1" y="141514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FinInsight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6DC32D-B421-C570-6A24-EFD4BEE81DEB}"/>
              </a:ext>
            </a:extLst>
          </p:cNvPr>
          <p:cNvSpPr txBox="1"/>
          <p:nvPr/>
        </p:nvSpPr>
        <p:spPr>
          <a:xfrm>
            <a:off x="354511" y="1290152"/>
            <a:ext cx="1578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Home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A02312-36C0-EF2F-ABFF-B1E73B561852}"/>
              </a:ext>
            </a:extLst>
          </p:cNvPr>
          <p:cNvSpPr txBox="1"/>
          <p:nvPr/>
        </p:nvSpPr>
        <p:spPr>
          <a:xfrm>
            <a:off x="338181" y="1771164"/>
            <a:ext cx="8962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Overview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B6F56E-BD83-11B6-EDDF-027917E01688}"/>
              </a:ext>
            </a:extLst>
          </p:cNvPr>
          <p:cNvSpPr txBox="1"/>
          <p:nvPr/>
        </p:nvSpPr>
        <p:spPr>
          <a:xfrm>
            <a:off x="338181" y="2170532"/>
            <a:ext cx="1505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Expense &amp; Budget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9B9BF33-401B-8CF9-9AD5-A0168495B6F6}"/>
              </a:ext>
            </a:extLst>
          </p:cNvPr>
          <p:cNvSpPr txBox="1"/>
          <p:nvPr/>
        </p:nvSpPr>
        <p:spPr>
          <a:xfrm>
            <a:off x="338178" y="2958216"/>
            <a:ext cx="1505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Forecast Analysis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C7BA886-E80E-9875-7B8E-A3580158CBFB}"/>
              </a:ext>
            </a:extLst>
          </p:cNvPr>
          <p:cNvSpPr txBox="1"/>
          <p:nvPr/>
        </p:nvSpPr>
        <p:spPr>
          <a:xfrm>
            <a:off x="338179" y="2564374"/>
            <a:ext cx="1741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Department &amp; Region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3BC3FB2-44A3-75D2-D901-9E10AEBE4825}"/>
              </a:ext>
            </a:extLst>
          </p:cNvPr>
          <p:cNvSpPr txBox="1"/>
          <p:nvPr/>
        </p:nvSpPr>
        <p:spPr>
          <a:xfrm>
            <a:off x="338176" y="3745344"/>
            <a:ext cx="1063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FC84C69-8D2E-6BD5-D130-4595DB306C4F}"/>
              </a:ext>
            </a:extLst>
          </p:cNvPr>
          <p:cNvSpPr txBox="1"/>
          <p:nvPr/>
        </p:nvSpPr>
        <p:spPr>
          <a:xfrm>
            <a:off x="338177" y="3351780"/>
            <a:ext cx="1063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Key Insights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6F049BC-CFFE-48CA-F2CB-362C52627098}"/>
              </a:ext>
            </a:extLst>
          </p:cNvPr>
          <p:cNvSpPr txBox="1"/>
          <p:nvPr/>
        </p:nvSpPr>
        <p:spPr>
          <a:xfrm>
            <a:off x="0" y="6390532"/>
            <a:ext cx="30697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bg1"/>
                </a:solidFill>
              </a:rPr>
              <a:t>Shouary Verma </a:t>
            </a:r>
          </a:p>
          <a:p>
            <a:r>
              <a:rPr lang="en-IN" sz="1100" dirty="0">
                <a:solidFill>
                  <a:schemeClr val="bg1"/>
                </a:solidFill>
              </a:rPr>
              <a:t>Persevex Internship Project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A64BA07-BA21-B4B8-71E3-DC0DE802C1B9}"/>
              </a:ext>
            </a:extLst>
          </p:cNvPr>
          <p:cNvSpPr txBox="1"/>
          <p:nvPr/>
        </p:nvSpPr>
        <p:spPr>
          <a:xfrm>
            <a:off x="2215236" y="1109816"/>
            <a:ext cx="4381507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6246EA"/>
                </a:solidFill>
              </a:rPr>
              <a:t>WELCOME TO FININSIGHT</a:t>
            </a:r>
          </a:p>
          <a:p>
            <a:r>
              <a:rPr lang="en-IN" sz="3200" b="1" dirty="0">
                <a:solidFill>
                  <a:srgbClr val="10183F"/>
                </a:solidFill>
              </a:rPr>
              <a:t>Expense Control and Profitability Analytics</a:t>
            </a:r>
          </a:p>
          <a:p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Transforming financial data into actionable business insights.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6AC883E-0DAE-BC4D-A117-4771C8F57BBA}"/>
              </a:ext>
            </a:extLst>
          </p:cNvPr>
          <p:cNvGrpSpPr/>
          <p:nvPr/>
        </p:nvGrpSpPr>
        <p:grpSpPr>
          <a:xfrm>
            <a:off x="5616865" y="5200059"/>
            <a:ext cx="3129328" cy="1193856"/>
            <a:chOff x="2707813" y="3452179"/>
            <a:chExt cx="2691501" cy="119385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5F5C876C-CF82-13B7-6D92-588F14E4589E}"/>
                </a:ext>
              </a:extLst>
            </p:cNvPr>
            <p:cNvSpPr/>
            <p:nvPr/>
          </p:nvSpPr>
          <p:spPr>
            <a:xfrm>
              <a:off x="2707813" y="3452179"/>
              <a:ext cx="2691501" cy="1193856"/>
            </a:xfrm>
            <a:prstGeom prst="roundRect">
              <a:avLst>
                <a:gd name="adj" fmla="val 8370"/>
              </a:avLst>
            </a:prstGeom>
            <a:solidFill>
              <a:schemeClr val="bg1"/>
            </a:solidFill>
            <a:ln>
              <a:solidFill>
                <a:srgbClr val="E7EA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7E17E81-77D8-AFCD-8C26-54AC98FB99AD}"/>
                </a:ext>
              </a:extLst>
            </p:cNvPr>
            <p:cNvSpPr txBox="1"/>
            <p:nvPr/>
          </p:nvSpPr>
          <p:spPr>
            <a:xfrm>
              <a:off x="2768946" y="3823271"/>
              <a:ext cx="2503714" cy="7540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IN" sz="1600" dirty="0"/>
                <a:t>Forecast Analysis</a:t>
              </a:r>
            </a:p>
            <a:p>
              <a:endParaRPr lang="en-IN" sz="1600" dirty="0"/>
            </a:p>
            <a:p>
              <a:r>
                <a:rPr lang="en-IN" sz="1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Actual vs forecast scenario trends</a:t>
              </a:r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18F16EF0-D743-5409-59E5-A35E70C18BEA}"/>
                </a:ext>
              </a:extLst>
            </p:cNvPr>
            <p:cNvCxnSpPr/>
            <p:nvPr/>
          </p:nvCxnSpPr>
          <p:spPr>
            <a:xfrm flipV="1">
              <a:off x="5079546" y="3590679"/>
              <a:ext cx="119743" cy="1165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AA89DB9-E0CE-0ED1-04D1-6EB4272FE7C5}"/>
              </a:ext>
            </a:extLst>
          </p:cNvPr>
          <p:cNvGrpSpPr/>
          <p:nvPr/>
        </p:nvGrpSpPr>
        <p:grpSpPr>
          <a:xfrm>
            <a:off x="2215235" y="5196676"/>
            <a:ext cx="3127248" cy="1193856"/>
            <a:chOff x="2707813" y="3452179"/>
            <a:chExt cx="2691501" cy="119385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B7C60C6F-C32F-2CC5-95DA-CAA72188A0E7}"/>
                </a:ext>
              </a:extLst>
            </p:cNvPr>
            <p:cNvSpPr/>
            <p:nvPr/>
          </p:nvSpPr>
          <p:spPr>
            <a:xfrm>
              <a:off x="2707813" y="3452179"/>
              <a:ext cx="2691501" cy="1193856"/>
            </a:xfrm>
            <a:prstGeom prst="roundRect">
              <a:avLst>
                <a:gd name="adj" fmla="val 9008"/>
              </a:avLst>
            </a:prstGeom>
            <a:solidFill>
              <a:schemeClr val="bg1"/>
            </a:solidFill>
            <a:ln>
              <a:solidFill>
                <a:srgbClr val="E7EA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48F55863-8474-5496-8D48-AA572075F077}"/>
                </a:ext>
              </a:extLst>
            </p:cNvPr>
            <p:cNvSpPr txBox="1"/>
            <p:nvPr/>
          </p:nvSpPr>
          <p:spPr>
            <a:xfrm>
              <a:off x="2768946" y="3823271"/>
              <a:ext cx="2503714" cy="7540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IN" sz="1600" dirty="0"/>
                <a:t>Department &amp; Region</a:t>
              </a:r>
            </a:p>
            <a:p>
              <a:endParaRPr lang="en-IN" sz="1600" dirty="0"/>
            </a:p>
            <a:p>
              <a:r>
                <a:rPr lang="en-IN" sz="1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Organizational performance comparison</a:t>
              </a:r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37A0F67B-8667-8120-6020-31ED9CEF1099}"/>
                </a:ext>
              </a:extLst>
            </p:cNvPr>
            <p:cNvCxnSpPr/>
            <p:nvPr/>
          </p:nvCxnSpPr>
          <p:spPr>
            <a:xfrm flipV="1">
              <a:off x="5079546" y="3590679"/>
              <a:ext cx="119743" cy="1165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44E4510-06D9-559B-3A70-F1500DD082D8}"/>
              </a:ext>
            </a:extLst>
          </p:cNvPr>
          <p:cNvGrpSpPr/>
          <p:nvPr/>
        </p:nvGrpSpPr>
        <p:grpSpPr>
          <a:xfrm>
            <a:off x="2215235" y="3727500"/>
            <a:ext cx="3127248" cy="1193856"/>
            <a:chOff x="2215235" y="3727500"/>
            <a:chExt cx="3127248" cy="119385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39E59C67-E725-C25E-AA0C-FABBAFBD03EF}"/>
                </a:ext>
              </a:extLst>
            </p:cNvPr>
            <p:cNvGrpSpPr/>
            <p:nvPr/>
          </p:nvGrpSpPr>
          <p:grpSpPr>
            <a:xfrm>
              <a:off x="2215235" y="3727500"/>
              <a:ext cx="3127248" cy="1193856"/>
              <a:chOff x="2707813" y="3452179"/>
              <a:chExt cx="2691501" cy="1193856"/>
            </a:xfrm>
          </p:grpSpPr>
          <p:sp>
            <p:nvSpPr>
              <p:cNvPr id="74" name="Rectangle: Rounded Corners 73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3170A87F-9294-6526-825A-E0BB3622F0B9}"/>
                  </a:ext>
                </a:extLst>
              </p:cNvPr>
              <p:cNvSpPr/>
              <p:nvPr/>
            </p:nvSpPr>
            <p:spPr>
              <a:xfrm>
                <a:off x="2707813" y="3452179"/>
                <a:ext cx="2691501" cy="1193856"/>
              </a:xfrm>
              <a:prstGeom prst="roundRect">
                <a:avLst>
                  <a:gd name="adj" fmla="val 9646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5" name="TextBox 74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B2D78C83-2821-A96D-5B82-5B5EA51ADAB5}"/>
                  </a:ext>
                </a:extLst>
              </p:cNvPr>
              <p:cNvSpPr txBox="1"/>
              <p:nvPr/>
            </p:nvSpPr>
            <p:spPr>
              <a:xfrm>
                <a:off x="2768946" y="3823271"/>
                <a:ext cx="2163991" cy="7540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/>
                  <a:t>Executive Overview</a:t>
                </a:r>
              </a:p>
              <a:p>
                <a:endParaRPr lang="en-IN" sz="1600" dirty="0"/>
              </a:p>
              <a:p>
                <a:r>
                  <a:rPr lang="en-I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Financial KPIs and project summary</a:t>
                </a:r>
              </a:p>
            </p:txBody>
          </p: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FD911063-B552-BC54-24D5-CAA761A98321}"/>
                  </a:ext>
                </a:extLst>
              </p:cNvPr>
              <p:cNvCxnSpPr/>
              <p:nvPr/>
            </p:nvCxnSpPr>
            <p:spPr>
              <a:xfrm flipV="1">
                <a:off x="5079546" y="3590679"/>
                <a:ext cx="119743" cy="116565"/>
              </a:xfrm>
              <a:prstGeom prst="straightConnector1">
                <a:avLst/>
              </a:prstGeom>
              <a:ln>
                <a:noFill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70E2FF4C-307D-6032-7079-3AA64B80E2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86265" y="3772560"/>
              <a:ext cx="361505" cy="361505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93" name="Picture 92">
            <a:extLst>
              <a:ext uri="{FF2B5EF4-FFF2-40B4-BE49-F238E27FC236}">
                <a16:creationId xmlns:a16="http://schemas.microsoft.com/office/drawing/2014/main" id="{D0EE457B-C263-1D7D-6FA0-6CBDBAFC1C8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286265" y="5244790"/>
            <a:ext cx="361505" cy="361505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07E259F9-0D44-3007-30E8-B08DED43BC1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689904" y="5244790"/>
            <a:ext cx="361505" cy="361505"/>
          </a:xfrm>
          <a:prstGeom prst="rect">
            <a:avLst/>
          </a:prstGeom>
        </p:spPr>
      </p:pic>
      <p:pic>
        <p:nvPicPr>
          <p:cNvPr id="11" name="Graphic 10" descr="Home outline">
            <a:extLst>
              <a:ext uri="{FF2B5EF4-FFF2-40B4-BE49-F238E27FC236}">
                <a16:creationId xmlns:a16="http://schemas.microsoft.com/office/drawing/2014/main" id="{DE3F1EC8-9E9D-EB6A-6617-73EB29243D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160" y="1268089"/>
            <a:ext cx="276999" cy="276999"/>
          </a:xfrm>
          <a:prstGeom prst="rect">
            <a:avLst/>
          </a:prstGeom>
        </p:spPr>
      </p:pic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618B5CDF-D090-CE3A-8E43-5E43E1964453}"/>
              </a:ext>
            </a:extLst>
          </p:cNvPr>
          <p:cNvSpPr/>
          <p:nvPr/>
        </p:nvSpPr>
        <p:spPr>
          <a:xfrm>
            <a:off x="78801" y="1219615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3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" name="Graphic 14" descr="Document outline">
            <a:extLst>
              <a:ext uri="{FF2B5EF4-FFF2-40B4-BE49-F238E27FC236}">
                <a16:creationId xmlns:a16="http://schemas.microsoft.com/office/drawing/2014/main" id="{11647217-1918-B394-33D9-B1D294E103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839" y="1734083"/>
            <a:ext cx="274320" cy="274320"/>
          </a:xfrm>
          <a:prstGeom prst="rect">
            <a:avLst/>
          </a:prstGeom>
        </p:spPr>
      </p:pic>
      <p:pic>
        <p:nvPicPr>
          <p:cNvPr id="17" name="Graphic 16" descr="Coins outline">
            <a:extLst>
              <a:ext uri="{FF2B5EF4-FFF2-40B4-BE49-F238E27FC236}">
                <a16:creationId xmlns:a16="http://schemas.microsoft.com/office/drawing/2014/main" id="{31363752-DC7E-6D2C-AC0A-0C3AF34BE1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9839" y="2164300"/>
            <a:ext cx="274320" cy="274320"/>
          </a:xfrm>
          <a:prstGeom prst="rect">
            <a:avLst/>
          </a:prstGeom>
        </p:spPr>
      </p:pic>
      <p:pic>
        <p:nvPicPr>
          <p:cNvPr id="20" name="Graphic 19" descr="Cycle with people outline">
            <a:extLst>
              <a:ext uri="{FF2B5EF4-FFF2-40B4-BE49-F238E27FC236}">
                <a16:creationId xmlns:a16="http://schemas.microsoft.com/office/drawing/2014/main" id="{2316C0F4-9F10-5A1B-8394-28B8907C9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9839" y="2554353"/>
            <a:ext cx="274320" cy="274320"/>
          </a:xfrm>
          <a:prstGeom prst="rect">
            <a:avLst/>
          </a:prstGeom>
        </p:spPr>
      </p:pic>
      <p:pic>
        <p:nvPicPr>
          <p:cNvPr id="22" name="Graphic 21" descr="Upward trend outline">
            <a:extLst>
              <a:ext uri="{FF2B5EF4-FFF2-40B4-BE49-F238E27FC236}">
                <a16:creationId xmlns:a16="http://schemas.microsoft.com/office/drawing/2014/main" id="{2981C0C6-E114-D760-9EBE-2878E5C702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9839" y="2948301"/>
            <a:ext cx="274320" cy="274320"/>
          </a:xfrm>
          <a:prstGeom prst="rect">
            <a:avLst/>
          </a:prstGeom>
        </p:spPr>
      </p:pic>
      <p:pic>
        <p:nvPicPr>
          <p:cNvPr id="25" name="Graphic 24" descr="Lightbulb outline">
            <a:extLst>
              <a:ext uri="{FF2B5EF4-FFF2-40B4-BE49-F238E27FC236}">
                <a16:creationId xmlns:a16="http://schemas.microsoft.com/office/drawing/2014/main" id="{84A206F2-9028-B4C9-E9A7-BD273DB8E2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9839" y="3369395"/>
            <a:ext cx="274320" cy="274320"/>
          </a:xfrm>
          <a:prstGeom prst="rect">
            <a:avLst/>
          </a:prstGeom>
        </p:spPr>
      </p:pic>
      <p:pic>
        <p:nvPicPr>
          <p:cNvPr id="28" name="Graphic 27" descr="CheckList outline">
            <a:extLst>
              <a:ext uri="{FF2B5EF4-FFF2-40B4-BE49-F238E27FC236}">
                <a16:creationId xmlns:a16="http://schemas.microsoft.com/office/drawing/2014/main" id="{5D2EA7B6-BE40-4F4C-109D-17D9C0ECEC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2161" y="3746830"/>
            <a:ext cx="274320" cy="274320"/>
          </a:xfrm>
          <a:prstGeom prst="rect">
            <a:avLst/>
          </a:prstGeom>
        </p:spPr>
      </p:pic>
      <p:sp>
        <p:nvSpPr>
          <p:cNvPr id="30" name="Rectangle: Rounded Corners 29">
            <a:hlinkClick r:id="rId4" action="ppaction://hlinksldjump"/>
            <a:extLst>
              <a:ext uri="{FF2B5EF4-FFF2-40B4-BE49-F238E27FC236}">
                <a16:creationId xmlns:a16="http://schemas.microsoft.com/office/drawing/2014/main" id="{23ED638F-7193-AD83-D077-DB63C9B8A480}"/>
              </a:ext>
            </a:extLst>
          </p:cNvPr>
          <p:cNvSpPr/>
          <p:nvPr/>
        </p:nvSpPr>
        <p:spPr>
          <a:xfrm>
            <a:off x="59961" y="1695073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Rectangle: Rounded Corners 30">
            <a:hlinkClick r:id="rId15" action="ppaction://hlinksldjump"/>
            <a:extLst>
              <a:ext uri="{FF2B5EF4-FFF2-40B4-BE49-F238E27FC236}">
                <a16:creationId xmlns:a16="http://schemas.microsoft.com/office/drawing/2014/main" id="{C38F0E20-8E11-5EAF-94C8-7BF4E8D940EC}"/>
              </a:ext>
            </a:extLst>
          </p:cNvPr>
          <p:cNvSpPr/>
          <p:nvPr/>
        </p:nvSpPr>
        <p:spPr>
          <a:xfrm>
            <a:off x="109839" y="2110337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: Rounded Corners 34">
            <a:hlinkClick r:id="rId16" action="ppaction://hlinksldjump"/>
            <a:extLst>
              <a:ext uri="{FF2B5EF4-FFF2-40B4-BE49-F238E27FC236}">
                <a16:creationId xmlns:a16="http://schemas.microsoft.com/office/drawing/2014/main" id="{31A8394A-41B8-BBBD-16E8-126F4547AA54}"/>
              </a:ext>
            </a:extLst>
          </p:cNvPr>
          <p:cNvSpPr/>
          <p:nvPr/>
        </p:nvSpPr>
        <p:spPr>
          <a:xfrm>
            <a:off x="119189" y="2523071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: Rounded Corners 36">
            <a:hlinkClick r:id="rId17" action="ppaction://hlinksldjump"/>
            <a:extLst>
              <a:ext uri="{FF2B5EF4-FFF2-40B4-BE49-F238E27FC236}">
                <a16:creationId xmlns:a16="http://schemas.microsoft.com/office/drawing/2014/main" id="{1EDAD39E-F784-30B4-F25F-4AA531881C13}"/>
              </a:ext>
            </a:extLst>
          </p:cNvPr>
          <p:cNvSpPr/>
          <p:nvPr/>
        </p:nvSpPr>
        <p:spPr>
          <a:xfrm>
            <a:off x="54656" y="2901130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B60F37C-07CE-71E9-BC48-AED577567DD1}"/>
              </a:ext>
            </a:extLst>
          </p:cNvPr>
          <p:cNvGrpSpPr/>
          <p:nvPr/>
        </p:nvGrpSpPr>
        <p:grpSpPr>
          <a:xfrm>
            <a:off x="5584258" y="3726757"/>
            <a:ext cx="3127248" cy="1193856"/>
            <a:chOff x="5584258" y="3726757"/>
            <a:chExt cx="3127248" cy="119385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0" name="Rectangle: Rounded Corners 79">
              <a:hlinkClick r:id="rId15" action="ppaction://hlinksldjump"/>
              <a:extLst>
                <a:ext uri="{FF2B5EF4-FFF2-40B4-BE49-F238E27FC236}">
                  <a16:creationId xmlns:a16="http://schemas.microsoft.com/office/drawing/2014/main" id="{EEA885BD-CAD1-A048-2E19-75ED81970242}"/>
                </a:ext>
              </a:extLst>
            </p:cNvPr>
            <p:cNvSpPr/>
            <p:nvPr/>
          </p:nvSpPr>
          <p:spPr>
            <a:xfrm>
              <a:off x="5584258" y="3726757"/>
              <a:ext cx="3127248" cy="1193856"/>
            </a:xfrm>
            <a:prstGeom prst="roundRect">
              <a:avLst>
                <a:gd name="adj" fmla="val 8370"/>
              </a:avLst>
            </a:prstGeom>
            <a:solidFill>
              <a:schemeClr val="bg1"/>
            </a:solidFill>
            <a:ln>
              <a:solidFill>
                <a:srgbClr val="E7EA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ECCF29B-8BE1-1C0C-CE1B-0EAEBDEA5A8C}"/>
                </a:ext>
              </a:extLst>
            </p:cNvPr>
            <p:cNvSpPr txBox="1"/>
            <p:nvPr/>
          </p:nvSpPr>
          <p:spPr>
            <a:xfrm>
              <a:off x="5626718" y="4097917"/>
              <a:ext cx="2972219" cy="7540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IN" sz="1600" dirty="0"/>
                <a:t>Expense &amp; Budget</a:t>
              </a:r>
            </a:p>
            <a:p>
              <a:endParaRPr lang="en-IN" sz="1600" dirty="0"/>
            </a:p>
            <a:p>
              <a:r>
                <a:rPr lang="en-IN" sz="1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Spending categories and budget variances</a:t>
              </a: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04F9A79A-0DD2-637F-5610-3C824BFF1BBC}"/>
                </a:ext>
              </a:extLst>
            </p:cNvPr>
            <p:cNvCxnSpPr/>
            <p:nvPr/>
          </p:nvCxnSpPr>
          <p:spPr>
            <a:xfrm flipV="1">
              <a:off x="8362656" y="3840337"/>
              <a:ext cx="115651" cy="1165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6E458E86-D51F-6C99-77D5-50C997D84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5696605" y="3771739"/>
              <a:ext cx="361505" cy="361505"/>
            </a:xfrm>
            <a:prstGeom prst="rect">
              <a:avLst/>
            </a:prstGeom>
          </p:spPr>
        </p:pic>
        <p:sp>
          <p:nvSpPr>
            <p:cNvPr id="38" name="Rectangle: Rounded Corners 37">
              <a:hlinkClick r:id="rId15" action="ppaction://hlinksldjump"/>
              <a:extLst>
                <a:ext uri="{FF2B5EF4-FFF2-40B4-BE49-F238E27FC236}">
                  <a16:creationId xmlns:a16="http://schemas.microsoft.com/office/drawing/2014/main" id="{5EB27A06-31F4-00DB-55A4-BFCF728247BF}"/>
                </a:ext>
              </a:extLst>
            </p:cNvPr>
            <p:cNvSpPr/>
            <p:nvPr/>
          </p:nvSpPr>
          <p:spPr>
            <a:xfrm>
              <a:off x="5623087" y="3772560"/>
              <a:ext cx="3041373" cy="110489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40" name="Rectangle: Rounded Corners 39">
            <a:hlinkClick r:id="rId16" action="ppaction://hlinksldjump"/>
            <a:extLst>
              <a:ext uri="{FF2B5EF4-FFF2-40B4-BE49-F238E27FC236}">
                <a16:creationId xmlns:a16="http://schemas.microsoft.com/office/drawing/2014/main" id="{709A1D3F-781F-5FB1-8A58-1591068E7DA1}"/>
              </a:ext>
            </a:extLst>
          </p:cNvPr>
          <p:cNvSpPr/>
          <p:nvPr/>
        </p:nvSpPr>
        <p:spPr>
          <a:xfrm>
            <a:off x="2285138" y="5235021"/>
            <a:ext cx="3047595" cy="110489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: Rounded Corners 42">
            <a:hlinkClick r:id="rId17" action="ppaction://hlinksldjump"/>
            <a:extLst>
              <a:ext uri="{FF2B5EF4-FFF2-40B4-BE49-F238E27FC236}">
                <a16:creationId xmlns:a16="http://schemas.microsoft.com/office/drawing/2014/main" id="{29429F97-025D-B59D-7392-1FAE5DAA19CE}"/>
              </a:ext>
            </a:extLst>
          </p:cNvPr>
          <p:cNvSpPr/>
          <p:nvPr/>
        </p:nvSpPr>
        <p:spPr>
          <a:xfrm>
            <a:off x="5616865" y="5235021"/>
            <a:ext cx="3047595" cy="110489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58A3B05-D882-378C-2554-488E00CB1395}"/>
              </a:ext>
            </a:extLst>
          </p:cNvPr>
          <p:cNvCxnSpPr/>
          <p:nvPr/>
        </p:nvCxnSpPr>
        <p:spPr>
          <a:xfrm flipV="1">
            <a:off x="4994423" y="3896707"/>
            <a:ext cx="115651" cy="116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hlinkClick r:id="rId19" action="ppaction://hlinksldjump"/>
            <a:extLst>
              <a:ext uri="{FF2B5EF4-FFF2-40B4-BE49-F238E27FC236}">
                <a16:creationId xmlns:a16="http://schemas.microsoft.com/office/drawing/2014/main" id="{B86CC4DA-7D65-A565-2EBD-6BD8B0901EDE}"/>
              </a:ext>
            </a:extLst>
          </p:cNvPr>
          <p:cNvSpPr/>
          <p:nvPr/>
        </p:nvSpPr>
        <p:spPr>
          <a:xfrm>
            <a:off x="79932" y="3322815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2" name="Rectangle: Rounded Corners 51">
            <a:hlinkClick r:id="rId20" action="ppaction://hlinksldjump"/>
            <a:extLst>
              <a:ext uri="{FF2B5EF4-FFF2-40B4-BE49-F238E27FC236}">
                <a16:creationId xmlns:a16="http://schemas.microsoft.com/office/drawing/2014/main" id="{A8982D80-F0CF-A2E5-6C2F-8D2C9D30510A}"/>
              </a:ext>
            </a:extLst>
          </p:cNvPr>
          <p:cNvSpPr/>
          <p:nvPr/>
        </p:nvSpPr>
        <p:spPr>
          <a:xfrm>
            <a:off x="67378" y="3723827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EC0DF7-3072-DF21-6BBC-06A610796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Oval 71">
            <a:extLst>
              <a:ext uri="{FF2B5EF4-FFF2-40B4-BE49-F238E27FC236}">
                <a16:creationId xmlns:a16="http://schemas.microsoft.com/office/drawing/2014/main" id="{DEFD146F-0179-F0DD-0AE5-9F5E14C8453A}"/>
              </a:ext>
            </a:extLst>
          </p:cNvPr>
          <p:cNvSpPr/>
          <p:nvPr/>
        </p:nvSpPr>
        <p:spPr>
          <a:xfrm>
            <a:off x="732222" y="4338103"/>
            <a:ext cx="5072743" cy="5108113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6DC37CE-A3D0-2714-338E-C74BE48EC8FE}"/>
              </a:ext>
            </a:extLst>
          </p:cNvPr>
          <p:cNvSpPr/>
          <p:nvPr/>
        </p:nvSpPr>
        <p:spPr>
          <a:xfrm>
            <a:off x="368799" y="1814310"/>
            <a:ext cx="4572000" cy="4526155"/>
          </a:xfrm>
          <a:prstGeom prst="ellipse">
            <a:avLst/>
          </a:prstGeom>
          <a:solidFill>
            <a:srgbClr val="6246EA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1EDAB0B-5CC0-EDF6-572A-37AD80440498}"/>
              </a:ext>
            </a:extLst>
          </p:cNvPr>
          <p:cNvSpPr/>
          <p:nvPr/>
        </p:nvSpPr>
        <p:spPr>
          <a:xfrm>
            <a:off x="-1" y="0"/>
            <a:ext cx="2057400" cy="6858000"/>
          </a:xfrm>
          <a:prstGeom prst="rect">
            <a:avLst/>
          </a:prstGeom>
          <a:solidFill>
            <a:srgbClr val="1018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55B0CB7-988E-37FA-6502-1F7CBDD627C5}"/>
              </a:ext>
            </a:extLst>
          </p:cNvPr>
          <p:cNvSpPr txBox="1"/>
          <p:nvPr/>
        </p:nvSpPr>
        <p:spPr>
          <a:xfrm>
            <a:off x="-1" y="141514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FinInsight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2E0C84A-1F72-CA73-41C3-A9CA54F26FE7}"/>
              </a:ext>
            </a:extLst>
          </p:cNvPr>
          <p:cNvSpPr txBox="1"/>
          <p:nvPr/>
        </p:nvSpPr>
        <p:spPr>
          <a:xfrm>
            <a:off x="354511" y="1290152"/>
            <a:ext cx="1578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Home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109B9DB-57C6-72ED-51D8-C5E85D422A9C}"/>
              </a:ext>
            </a:extLst>
          </p:cNvPr>
          <p:cNvSpPr txBox="1"/>
          <p:nvPr/>
        </p:nvSpPr>
        <p:spPr>
          <a:xfrm>
            <a:off x="338181" y="1771164"/>
            <a:ext cx="8962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Overview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DE09BC7-B417-D5F4-63A5-F10E56B6DF2D}"/>
              </a:ext>
            </a:extLst>
          </p:cNvPr>
          <p:cNvSpPr txBox="1"/>
          <p:nvPr/>
        </p:nvSpPr>
        <p:spPr>
          <a:xfrm>
            <a:off x="338181" y="2170532"/>
            <a:ext cx="1505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Expense &amp; Budget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A2CDD62-FD3F-F23C-1318-F19D98D49912}"/>
              </a:ext>
            </a:extLst>
          </p:cNvPr>
          <p:cNvSpPr txBox="1"/>
          <p:nvPr/>
        </p:nvSpPr>
        <p:spPr>
          <a:xfrm>
            <a:off x="338178" y="2958216"/>
            <a:ext cx="1505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Forecast Analysis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ADDEC50-C14A-B3BB-3417-930636B0E787}"/>
              </a:ext>
            </a:extLst>
          </p:cNvPr>
          <p:cNvSpPr txBox="1"/>
          <p:nvPr/>
        </p:nvSpPr>
        <p:spPr>
          <a:xfrm>
            <a:off x="338179" y="2564374"/>
            <a:ext cx="1741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Department &amp; Region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983B195-5C0E-496F-CB25-B1B74BE6A2A5}"/>
              </a:ext>
            </a:extLst>
          </p:cNvPr>
          <p:cNvSpPr txBox="1"/>
          <p:nvPr/>
        </p:nvSpPr>
        <p:spPr>
          <a:xfrm>
            <a:off x="338176" y="3745344"/>
            <a:ext cx="1063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9477667-1631-AEC1-064D-4793CF07F23B}"/>
              </a:ext>
            </a:extLst>
          </p:cNvPr>
          <p:cNvSpPr txBox="1"/>
          <p:nvPr/>
        </p:nvSpPr>
        <p:spPr>
          <a:xfrm>
            <a:off x="338177" y="3351780"/>
            <a:ext cx="1063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Key Insights</a:t>
            </a:r>
          </a:p>
        </p:txBody>
      </p:sp>
      <p:pic>
        <p:nvPicPr>
          <p:cNvPr id="88" name="Graphic 87" descr="Home outline">
            <a:extLst>
              <a:ext uri="{FF2B5EF4-FFF2-40B4-BE49-F238E27FC236}">
                <a16:creationId xmlns:a16="http://schemas.microsoft.com/office/drawing/2014/main" id="{5D46CB53-F5BA-7FFC-BA94-3955082808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60" y="1268089"/>
            <a:ext cx="276999" cy="276999"/>
          </a:xfrm>
          <a:prstGeom prst="rect">
            <a:avLst/>
          </a:prstGeom>
        </p:spPr>
      </p:pic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F532ACF0-35FF-733E-37CD-474C0B06C2A8}"/>
              </a:ext>
            </a:extLst>
          </p:cNvPr>
          <p:cNvSpPr/>
          <p:nvPr/>
        </p:nvSpPr>
        <p:spPr>
          <a:xfrm>
            <a:off x="78801" y="1694177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3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2" name="Graphic 91" descr="Document outline">
            <a:extLst>
              <a:ext uri="{FF2B5EF4-FFF2-40B4-BE49-F238E27FC236}">
                <a16:creationId xmlns:a16="http://schemas.microsoft.com/office/drawing/2014/main" id="{2F817FB3-1F2B-185E-CB8A-805984F56E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39" y="1734083"/>
            <a:ext cx="274320" cy="274320"/>
          </a:xfrm>
          <a:prstGeom prst="rect">
            <a:avLst/>
          </a:prstGeom>
        </p:spPr>
      </p:pic>
      <p:pic>
        <p:nvPicPr>
          <p:cNvPr id="94" name="Graphic 93" descr="Coins outline">
            <a:extLst>
              <a:ext uri="{FF2B5EF4-FFF2-40B4-BE49-F238E27FC236}">
                <a16:creationId xmlns:a16="http://schemas.microsoft.com/office/drawing/2014/main" id="{BC09C120-CF9D-F8BE-AD43-84B44F8914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839" y="2164300"/>
            <a:ext cx="274320" cy="274320"/>
          </a:xfrm>
          <a:prstGeom prst="rect">
            <a:avLst/>
          </a:prstGeom>
        </p:spPr>
      </p:pic>
      <p:pic>
        <p:nvPicPr>
          <p:cNvPr id="96" name="Graphic 95" descr="Cycle with people outline">
            <a:extLst>
              <a:ext uri="{FF2B5EF4-FFF2-40B4-BE49-F238E27FC236}">
                <a16:creationId xmlns:a16="http://schemas.microsoft.com/office/drawing/2014/main" id="{F03A211E-924C-6D05-C0B2-2B75361435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839" y="2554353"/>
            <a:ext cx="274320" cy="274320"/>
          </a:xfrm>
          <a:prstGeom prst="rect">
            <a:avLst/>
          </a:prstGeom>
        </p:spPr>
      </p:pic>
      <p:pic>
        <p:nvPicPr>
          <p:cNvPr id="98" name="Graphic 97" descr="Upward trend outline">
            <a:extLst>
              <a:ext uri="{FF2B5EF4-FFF2-40B4-BE49-F238E27FC236}">
                <a16:creationId xmlns:a16="http://schemas.microsoft.com/office/drawing/2014/main" id="{092CD61A-89F5-BD5A-E27F-3878D2A39A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839" y="2948301"/>
            <a:ext cx="274320" cy="274320"/>
          </a:xfrm>
          <a:prstGeom prst="rect">
            <a:avLst/>
          </a:prstGeom>
        </p:spPr>
      </p:pic>
      <p:pic>
        <p:nvPicPr>
          <p:cNvPr id="100" name="Graphic 99" descr="Lightbulb outline">
            <a:extLst>
              <a:ext uri="{FF2B5EF4-FFF2-40B4-BE49-F238E27FC236}">
                <a16:creationId xmlns:a16="http://schemas.microsoft.com/office/drawing/2014/main" id="{5800436B-C806-B3DC-CA4B-CE8FEA959D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839" y="3369395"/>
            <a:ext cx="274320" cy="274320"/>
          </a:xfrm>
          <a:prstGeom prst="rect">
            <a:avLst/>
          </a:prstGeom>
        </p:spPr>
      </p:pic>
      <p:pic>
        <p:nvPicPr>
          <p:cNvPr id="102" name="Graphic 101" descr="CheckList outline">
            <a:extLst>
              <a:ext uri="{FF2B5EF4-FFF2-40B4-BE49-F238E27FC236}">
                <a16:creationId xmlns:a16="http://schemas.microsoft.com/office/drawing/2014/main" id="{3C53927B-3335-D4F6-F25E-996D656C08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161" y="3746830"/>
            <a:ext cx="274320" cy="27432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1C228B4E-F461-9C2F-6FF0-07E5D636F2EF}"/>
              </a:ext>
            </a:extLst>
          </p:cNvPr>
          <p:cNvSpPr txBox="1"/>
          <p:nvPr/>
        </p:nvSpPr>
        <p:spPr>
          <a:xfrm>
            <a:off x="0" y="6390532"/>
            <a:ext cx="30697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bg1">
                    <a:lumMod val="75000"/>
                  </a:schemeClr>
                </a:solidFill>
              </a:rPr>
              <a:t>Shouary Verma </a:t>
            </a:r>
          </a:p>
          <a:p>
            <a:r>
              <a:rPr lang="en-IN" sz="1100" dirty="0">
                <a:solidFill>
                  <a:schemeClr val="bg1">
                    <a:lumMod val="75000"/>
                  </a:schemeClr>
                </a:solidFill>
              </a:rPr>
              <a:t>Persevex Internship Project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81639B9-EE45-FB0D-5CAE-D9FB7F919025}"/>
              </a:ext>
            </a:extLst>
          </p:cNvPr>
          <p:cNvSpPr txBox="1"/>
          <p:nvPr/>
        </p:nvSpPr>
        <p:spPr>
          <a:xfrm>
            <a:off x="2215236" y="1109816"/>
            <a:ext cx="519256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6246EA"/>
                </a:solidFill>
              </a:rPr>
              <a:t>02 | PROJECT OVERVIEW</a:t>
            </a:r>
          </a:p>
          <a:p>
            <a:r>
              <a:rPr lang="en-IN" sz="3200" dirty="0"/>
              <a:t>Project </a:t>
            </a:r>
            <a:r>
              <a:rPr lang="en-IN" sz="3200" b="1" dirty="0">
                <a:solidFill>
                  <a:srgbClr val="6246EA"/>
                </a:solidFill>
              </a:rPr>
              <a:t>Overview</a:t>
            </a:r>
          </a:p>
          <a:p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data-driven approach to analyze organizational expenses, evaluate budget performance, and generate actionable insights using SQL and Power BI.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3F5E47-F87E-BF5B-C6DC-4D2379A95630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82000"/>
          </a:blip>
          <a:srcRect t="14905" r="20796"/>
          <a:stretch>
            <a:fillRect/>
          </a:stretch>
        </p:blipFill>
        <p:spPr>
          <a:xfrm>
            <a:off x="7122290" y="0"/>
            <a:ext cx="5069710" cy="2690966"/>
          </a:xfrm>
          <a:prstGeom prst="rect">
            <a:avLst/>
          </a:prstGeom>
          <a:effectLst>
            <a:softEdge rad="25400"/>
          </a:effec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D620B11-777B-898A-8CEA-D697597635FD}"/>
              </a:ext>
            </a:extLst>
          </p:cNvPr>
          <p:cNvGrpSpPr/>
          <p:nvPr/>
        </p:nvGrpSpPr>
        <p:grpSpPr>
          <a:xfrm>
            <a:off x="2268350" y="2799089"/>
            <a:ext cx="4029337" cy="1473661"/>
            <a:chOff x="2812648" y="3313680"/>
            <a:chExt cx="4029337" cy="147366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6144562-0AF9-76B8-D85B-27CA914CC233}"/>
                </a:ext>
              </a:extLst>
            </p:cNvPr>
            <p:cNvSpPr/>
            <p:nvPr/>
          </p:nvSpPr>
          <p:spPr>
            <a:xfrm>
              <a:off x="2812648" y="3313680"/>
              <a:ext cx="4029337" cy="1473661"/>
            </a:xfrm>
            <a:prstGeom prst="roundRect">
              <a:avLst/>
            </a:prstGeom>
            <a:solidFill>
              <a:srgbClr val="F0ED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7335607-2FED-9925-601B-E2A0F1730740}"/>
                </a:ext>
              </a:extLst>
            </p:cNvPr>
            <p:cNvSpPr txBox="1"/>
            <p:nvPr/>
          </p:nvSpPr>
          <p:spPr>
            <a:xfrm>
              <a:off x="2867246" y="3361430"/>
              <a:ext cx="392844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rgbClr val="6246EA"/>
                  </a:solidFill>
                </a:rPr>
                <a:t>       Project Goal</a:t>
              </a:r>
            </a:p>
            <a:p>
              <a:endParaRPr lang="en-IN" sz="16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r>
                <a:rPr lang="en-I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Develop an interactive financial analytics solution to monitor expenses, evaluate budget utilization, identify variances, and support data-driven decision-making.</a:t>
              </a:r>
            </a:p>
          </p:txBody>
        </p:sp>
        <p:pic>
          <p:nvPicPr>
            <p:cNvPr id="7" name="Graphic 6" descr="Bullseye with solid fill">
              <a:extLst>
                <a:ext uri="{FF2B5EF4-FFF2-40B4-BE49-F238E27FC236}">
                  <a16:creationId xmlns:a16="http://schemas.microsoft.com/office/drawing/2014/main" id="{A5037EDC-BCE3-BFFE-DC44-EE85710EAF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929826" y="3370535"/>
              <a:ext cx="426832" cy="426832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382C838-7AD7-59F7-4CBE-6F9E600FB92D}"/>
              </a:ext>
            </a:extLst>
          </p:cNvPr>
          <p:cNvGrpSpPr/>
          <p:nvPr/>
        </p:nvGrpSpPr>
        <p:grpSpPr>
          <a:xfrm>
            <a:off x="7122290" y="2767166"/>
            <a:ext cx="4213947" cy="1507404"/>
            <a:chOff x="2812648" y="3279937"/>
            <a:chExt cx="4213947" cy="15074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3ACEFB5-9D9F-21EE-2A86-41387F1C9D16}"/>
                </a:ext>
              </a:extLst>
            </p:cNvPr>
            <p:cNvSpPr/>
            <p:nvPr/>
          </p:nvSpPr>
          <p:spPr>
            <a:xfrm>
              <a:off x="2812648" y="3313680"/>
              <a:ext cx="4029337" cy="1473661"/>
            </a:xfrm>
            <a:prstGeom prst="roundRect">
              <a:avLst/>
            </a:prstGeom>
            <a:solidFill>
              <a:srgbClr val="F0ED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5F6F30D-11E0-3020-FD81-17729A893C2E}"/>
                </a:ext>
              </a:extLst>
            </p:cNvPr>
            <p:cNvSpPr txBox="1"/>
            <p:nvPr/>
          </p:nvSpPr>
          <p:spPr>
            <a:xfrm>
              <a:off x="3098155" y="3279937"/>
              <a:ext cx="3928440" cy="1475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rgbClr val="6246EA"/>
                  </a:solidFill>
                </a:rPr>
                <a:t>Dataset</a:t>
              </a:r>
            </a:p>
            <a:p>
              <a:pPr>
                <a:lnSpc>
                  <a:spcPct val="150000"/>
                </a:lnSpc>
              </a:pPr>
              <a:r>
                <a:rPr lang="en-IN" sz="1200" dirty="0"/>
                <a:t>541,522 financial fact records</a:t>
              </a:r>
            </a:p>
            <a:p>
              <a:pPr>
                <a:lnSpc>
                  <a:spcPct val="150000"/>
                </a:lnSpc>
              </a:pPr>
              <a:r>
                <a:rPr lang="en-IN" sz="1200" dirty="0"/>
                <a:t>3 related tables</a:t>
              </a:r>
            </a:p>
            <a:p>
              <a:pPr>
                <a:lnSpc>
                  <a:spcPct val="150000"/>
                </a:lnSpc>
              </a:pPr>
              <a:r>
                <a:rPr lang="en-IN" sz="1200" dirty="0"/>
                <a:t>July–December 2012 analysis period</a:t>
              </a:r>
            </a:p>
            <a:p>
              <a:pPr>
                <a:lnSpc>
                  <a:spcPct val="150000"/>
                </a:lnSpc>
              </a:pPr>
              <a:r>
                <a:rPr lang="en-IN" sz="1200" dirty="0"/>
                <a:t>Microsoft Contoso financial sample dataset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6383B78D-18AE-8E62-2346-6F0CBDF8EEA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7594" y="2846839"/>
            <a:ext cx="247808" cy="24780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535918A-7AAD-E5D7-97C9-093CC066DBEF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269981" y="3181798"/>
            <a:ext cx="183033" cy="1830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BAC6A94-B3BF-20E2-416A-87394E78F9C3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283630" y="3447254"/>
            <a:ext cx="183033" cy="18303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62CB1E1-4313-AB1A-2D50-9CD6E32665DB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288331" y="3729433"/>
            <a:ext cx="179539" cy="1795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0AFC088-5DA6-21E3-CBCE-8E1182D7689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287124" y="4002404"/>
            <a:ext cx="179539" cy="17953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5A1EFE5-D8CA-1223-A8A7-E4B4B8EC3935}"/>
              </a:ext>
            </a:extLst>
          </p:cNvPr>
          <p:cNvSpPr txBox="1"/>
          <p:nvPr/>
        </p:nvSpPr>
        <p:spPr>
          <a:xfrm>
            <a:off x="2215236" y="4429619"/>
            <a:ext cx="2521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Features</a:t>
            </a:r>
            <a:endParaRPr lang="en-IN" b="1" dirty="0"/>
          </a:p>
        </p:txBody>
      </p:sp>
      <p:sp>
        <p:nvSpPr>
          <p:cNvPr id="104" name="Rectangle: Rounded Corners 103">
            <a:hlinkClick r:id="rId16" action="ppaction://hlinksldjump"/>
            <a:extLst>
              <a:ext uri="{FF2B5EF4-FFF2-40B4-BE49-F238E27FC236}">
                <a16:creationId xmlns:a16="http://schemas.microsoft.com/office/drawing/2014/main" id="{AC47F635-BF2B-E44A-38AF-66023673A39B}"/>
              </a:ext>
            </a:extLst>
          </p:cNvPr>
          <p:cNvSpPr/>
          <p:nvPr/>
        </p:nvSpPr>
        <p:spPr>
          <a:xfrm>
            <a:off x="55831" y="1233092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5" name="Rectangle: Rounded Corners 104">
            <a:hlinkClick r:id="rId17" action="ppaction://hlinksldjump"/>
            <a:extLst>
              <a:ext uri="{FF2B5EF4-FFF2-40B4-BE49-F238E27FC236}">
                <a16:creationId xmlns:a16="http://schemas.microsoft.com/office/drawing/2014/main" id="{645B970C-3CE1-E159-1735-8A583411FF8C}"/>
              </a:ext>
            </a:extLst>
          </p:cNvPr>
          <p:cNvSpPr/>
          <p:nvPr/>
        </p:nvSpPr>
        <p:spPr>
          <a:xfrm>
            <a:off x="115627" y="2124968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8D1BE567-2B68-46C1-91D3-1D5DDB0F106F}"/>
              </a:ext>
            </a:extLst>
          </p:cNvPr>
          <p:cNvSpPr/>
          <p:nvPr/>
        </p:nvSpPr>
        <p:spPr>
          <a:xfrm>
            <a:off x="2215236" y="5034788"/>
            <a:ext cx="2386584" cy="1197864"/>
          </a:xfrm>
          <a:prstGeom prst="roundRect">
            <a:avLst/>
          </a:prstGeom>
          <a:solidFill>
            <a:schemeClr val="bg1"/>
          </a:solidFill>
          <a:ln>
            <a:solidFill>
              <a:srgbClr val="E7EAF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Expense Monitoring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Analyze actual expenses across financial categories and identify major drivers.</a:t>
            </a:r>
            <a:endParaRPr lang="en-IN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190F0DA2-F8D5-3DB6-FE9B-8A9DD1C54BBC}"/>
              </a:ext>
            </a:extLst>
          </p:cNvPr>
          <p:cNvSpPr/>
          <p:nvPr/>
        </p:nvSpPr>
        <p:spPr>
          <a:xfrm>
            <a:off x="4709078" y="5034788"/>
            <a:ext cx="2386584" cy="1197864"/>
          </a:xfrm>
          <a:prstGeom prst="roundRect">
            <a:avLst/>
          </a:prstGeom>
          <a:solidFill>
            <a:schemeClr val="bg1"/>
          </a:solidFill>
          <a:ln>
            <a:solidFill>
              <a:srgbClr val="E7EAF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Budget Performance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Compare actual vs budget, calculate variances, and evaluate utilization.</a:t>
            </a:r>
            <a:endParaRPr lang="en-IN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D39519AF-A178-5A8F-3C3B-388AA903DC9D}"/>
              </a:ext>
            </a:extLst>
          </p:cNvPr>
          <p:cNvSpPr/>
          <p:nvPr/>
        </p:nvSpPr>
        <p:spPr>
          <a:xfrm>
            <a:off x="7217582" y="5050536"/>
            <a:ext cx="2386584" cy="1197864"/>
          </a:xfrm>
          <a:prstGeom prst="roundRect">
            <a:avLst/>
          </a:prstGeom>
          <a:solidFill>
            <a:schemeClr val="bg1"/>
          </a:solidFill>
          <a:ln>
            <a:solidFill>
              <a:srgbClr val="E7EAF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Department &amp; Region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Analyze expenses by department, profit center, and geographical region.</a:t>
            </a:r>
            <a:endParaRPr lang="en-IN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F5B4F328-C52A-F492-8694-0424758C7977}"/>
              </a:ext>
            </a:extLst>
          </p:cNvPr>
          <p:cNvSpPr/>
          <p:nvPr/>
        </p:nvSpPr>
        <p:spPr>
          <a:xfrm>
            <a:off x="9726086" y="5034788"/>
            <a:ext cx="2386584" cy="1197864"/>
          </a:xfrm>
          <a:prstGeom prst="roundRect">
            <a:avLst/>
          </a:prstGeom>
          <a:solidFill>
            <a:schemeClr val="bg1"/>
          </a:solidFill>
          <a:ln>
            <a:solidFill>
              <a:srgbClr val="E7EAF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Trend &amp; Forecast</a:t>
            </a:r>
          </a:p>
          <a:p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Evaluate monthly trends and compare actual and forecast scenarios</a:t>
            </a:r>
            <a:endParaRPr lang="en-IN" sz="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8" name="Graphic 47" descr="Signal with solid fill">
            <a:extLst>
              <a:ext uri="{FF2B5EF4-FFF2-40B4-BE49-F238E27FC236}">
                <a16:creationId xmlns:a16="http://schemas.microsoft.com/office/drawing/2014/main" id="{46083178-8DC9-D2DA-25CE-B6D80EDD98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146651" y="5246380"/>
            <a:ext cx="323327" cy="323327"/>
          </a:xfrm>
          <a:prstGeom prst="rect">
            <a:avLst/>
          </a:prstGeom>
        </p:spPr>
      </p:pic>
      <p:pic>
        <p:nvPicPr>
          <p:cNvPr id="50" name="Graphic 49" descr="Pie chart with solid fill">
            <a:extLst>
              <a:ext uri="{FF2B5EF4-FFF2-40B4-BE49-F238E27FC236}">
                <a16:creationId xmlns:a16="http://schemas.microsoft.com/office/drawing/2014/main" id="{8B18DFE9-859B-582A-E171-D160B4C172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712194" y="5246380"/>
            <a:ext cx="320040" cy="320040"/>
          </a:xfrm>
          <a:prstGeom prst="rect">
            <a:avLst/>
          </a:prstGeom>
        </p:spPr>
      </p:pic>
      <p:pic>
        <p:nvPicPr>
          <p:cNvPr id="52" name="Graphic 51" descr="Building with solid fill">
            <a:extLst>
              <a:ext uri="{FF2B5EF4-FFF2-40B4-BE49-F238E27FC236}">
                <a16:creationId xmlns:a16="http://schemas.microsoft.com/office/drawing/2014/main" id="{7B17BEF0-B767-A0FB-B953-77D4611150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211997" y="5249667"/>
            <a:ext cx="320040" cy="320040"/>
          </a:xfrm>
          <a:prstGeom prst="rect">
            <a:avLst/>
          </a:prstGeom>
        </p:spPr>
      </p:pic>
      <p:pic>
        <p:nvPicPr>
          <p:cNvPr id="55" name="Graphic 54" descr="Upward trend with solid fill">
            <a:extLst>
              <a:ext uri="{FF2B5EF4-FFF2-40B4-BE49-F238E27FC236}">
                <a16:creationId xmlns:a16="http://schemas.microsoft.com/office/drawing/2014/main" id="{C434B6AD-F52D-8C80-5CC8-77DF6EFE66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663181" y="5246380"/>
            <a:ext cx="320040" cy="320040"/>
          </a:xfrm>
          <a:prstGeom prst="rect">
            <a:avLst/>
          </a:prstGeom>
        </p:spPr>
      </p:pic>
      <p:sp>
        <p:nvSpPr>
          <p:cNvPr id="117" name="Rectangle: Rounded Corners 116">
            <a:hlinkClick r:id="rId22" action="ppaction://hlinksldjump"/>
            <a:extLst>
              <a:ext uri="{FF2B5EF4-FFF2-40B4-BE49-F238E27FC236}">
                <a16:creationId xmlns:a16="http://schemas.microsoft.com/office/drawing/2014/main" id="{2809B72A-2044-A5BA-E563-C1B01200E8E5}"/>
              </a:ext>
            </a:extLst>
          </p:cNvPr>
          <p:cNvSpPr/>
          <p:nvPr/>
        </p:nvSpPr>
        <p:spPr>
          <a:xfrm>
            <a:off x="119189" y="2523071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9" name="Rectangle: Rounded Corners 118">
            <a:hlinkClick r:id="rId23" action="ppaction://hlinksldjump"/>
            <a:extLst>
              <a:ext uri="{FF2B5EF4-FFF2-40B4-BE49-F238E27FC236}">
                <a16:creationId xmlns:a16="http://schemas.microsoft.com/office/drawing/2014/main" id="{88DE0BE9-3A05-E07A-80C1-506366DB964F}"/>
              </a:ext>
            </a:extLst>
          </p:cNvPr>
          <p:cNvSpPr/>
          <p:nvPr/>
        </p:nvSpPr>
        <p:spPr>
          <a:xfrm>
            <a:off x="54656" y="2901130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1" name="Rectangle: Rounded Corners 120">
            <a:hlinkClick r:id="rId24" action="ppaction://hlinksldjump"/>
            <a:extLst>
              <a:ext uri="{FF2B5EF4-FFF2-40B4-BE49-F238E27FC236}">
                <a16:creationId xmlns:a16="http://schemas.microsoft.com/office/drawing/2014/main" id="{44A45D78-1088-D40E-ACD8-F92A735E53C1}"/>
              </a:ext>
            </a:extLst>
          </p:cNvPr>
          <p:cNvSpPr/>
          <p:nvPr/>
        </p:nvSpPr>
        <p:spPr>
          <a:xfrm>
            <a:off x="79932" y="3322815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3" name="Rectangle: Rounded Corners 122">
            <a:hlinkClick r:id="rId25" action="ppaction://hlinksldjump"/>
            <a:extLst>
              <a:ext uri="{FF2B5EF4-FFF2-40B4-BE49-F238E27FC236}">
                <a16:creationId xmlns:a16="http://schemas.microsoft.com/office/drawing/2014/main" id="{2054DBE9-D56E-9C13-71CD-C0642E0B438E}"/>
              </a:ext>
            </a:extLst>
          </p:cNvPr>
          <p:cNvSpPr/>
          <p:nvPr/>
        </p:nvSpPr>
        <p:spPr>
          <a:xfrm>
            <a:off x="67378" y="3723827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8512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803E71-8B10-08EE-4229-B08064A08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Oval 71">
            <a:extLst>
              <a:ext uri="{FF2B5EF4-FFF2-40B4-BE49-F238E27FC236}">
                <a16:creationId xmlns:a16="http://schemas.microsoft.com/office/drawing/2014/main" id="{AE325243-96FE-2905-7867-48CB0D71FE61}"/>
              </a:ext>
            </a:extLst>
          </p:cNvPr>
          <p:cNvSpPr/>
          <p:nvPr/>
        </p:nvSpPr>
        <p:spPr>
          <a:xfrm>
            <a:off x="8382845" y="4736937"/>
            <a:ext cx="5072743" cy="5108113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D485DC47-B9C3-88C2-4603-89C3790E74A7}"/>
              </a:ext>
            </a:extLst>
          </p:cNvPr>
          <p:cNvSpPr/>
          <p:nvPr/>
        </p:nvSpPr>
        <p:spPr>
          <a:xfrm>
            <a:off x="10012544" y="2506635"/>
            <a:ext cx="4572000" cy="4526155"/>
          </a:xfrm>
          <a:prstGeom prst="ellipse">
            <a:avLst/>
          </a:prstGeom>
          <a:solidFill>
            <a:srgbClr val="6246EA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8D39549-A583-6C1A-D999-12C7A1025FE8}"/>
              </a:ext>
            </a:extLst>
          </p:cNvPr>
          <p:cNvSpPr/>
          <p:nvPr/>
        </p:nvSpPr>
        <p:spPr>
          <a:xfrm>
            <a:off x="-1" y="0"/>
            <a:ext cx="2057400" cy="6858000"/>
          </a:xfrm>
          <a:prstGeom prst="rect">
            <a:avLst/>
          </a:prstGeom>
          <a:solidFill>
            <a:srgbClr val="1018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419A729-8B83-5B45-5C01-C0585B247930}"/>
              </a:ext>
            </a:extLst>
          </p:cNvPr>
          <p:cNvSpPr txBox="1"/>
          <p:nvPr/>
        </p:nvSpPr>
        <p:spPr>
          <a:xfrm>
            <a:off x="-1" y="141514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FinInsight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A83FC2D-F280-3ABC-9786-61C3B392949E}"/>
              </a:ext>
            </a:extLst>
          </p:cNvPr>
          <p:cNvSpPr txBox="1"/>
          <p:nvPr/>
        </p:nvSpPr>
        <p:spPr>
          <a:xfrm>
            <a:off x="354511" y="1290152"/>
            <a:ext cx="1578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Home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B1628D2-F209-BFD1-3F2F-5C3228E9A5CB}"/>
              </a:ext>
            </a:extLst>
          </p:cNvPr>
          <p:cNvSpPr txBox="1"/>
          <p:nvPr/>
        </p:nvSpPr>
        <p:spPr>
          <a:xfrm>
            <a:off x="338181" y="1771164"/>
            <a:ext cx="8962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Overview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4E27E0D-F38B-51E9-62D3-6E4D04B2C3B8}"/>
              </a:ext>
            </a:extLst>
          </p:cNvPr>
          <p:cNvSpPr txBox="1"/>
          <p:nvPr/>
        </p:nvSpPr>
        <p:spPr>
          <a:xfrm>
            <a:off x="338181" y="2170532"/>
            <a:ext cx="1505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Expense &amp; Budget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E1A2A48-F77A-A17F-5BC4-7AA2F84834D1}"/>
              </a:ext>
            </a:extLst>
          </p:cNvPr>
          <p:cNvSpPr txBox="1"/>
          <p:nvPr/>
        </p:nvSpPr>
        <p:spPr>
          <a:xfrm>
            <a:off x="338178" y="2958216"/>
            <a:ext cx="1505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Forecast Analysis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F70ADCE-D15D-8939-B493-FF2C7C5C408B}"/>
              </a:ext>
            </a:extLst>
          </p:cNvPr>
          <p:cNvSpPr txBox="1"/>
          <p:nvPr/>
        </p:nvSpPr>
        <p:spPr>
          <a:xfrm>
            <a:off x="338179" y="2564374"/>
            <a:ext cx="1741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Department &amp; Region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B458F82-903E-FB22-D44B-7B6FE718E1AD}"/>
              </a:ext>
            </a:extLst>
          </p:cNvPr>
          <p:cNvSpPr txBox="1"/>
          <p:nvPr/>
        </p:nvSpPr>
        <p:spPr>
          <a:xfrm>
            <a:off x="338176" y="3745344"/>
            <a:ext cx="1063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BEAA4BD-91A3-994C-4D49-F70FABCC6EA3}"/>
              </a:ext>
            </a:extLst>
          </p:cNvPr>
          <p:cNvSpPr txBox="1"/>
          <p:nvPr/>
        </p:nvSpPr>
        <p:spPr>
          <a:xfrm>
            <a:off x="338177" y="3351780"/>
            <a:ext cx="1063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Key Insights</a:t>
            </a:r>
          </a:p>
        </p:txBody>
      </p:sp>
      <p:pic>
        <p:nvPicPr>
          <p:cNvPr id="88" name="Graphic 87" descr="Home outline">
            <a:extLst>
              <a:ext uri="{FF2B5EF4-FFF2-40B4-BE49-F238E27FC236}">
                <a16:creationId xmlns:a16="http://schemas.microsoft.com/office/drawing/2014/main" id="{36062704-92EA-62DB-2E50-F1266AFD8D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60" y="1268089"/>
            <a:ext cx="276999" cy="276999"/>
          </a:xfrm>
          <a:prstGeom prst="rect">
            <a:avLst/>
          </a:prstGeom>
        </p:spPr>
      </p:pic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E89DA325-79F4-4F97-F51C-BDD38BAACA81}"/>
              </a:ext>
            </a:extLst>
          </p:cNvPr>
          <p:cNvSpPr/>
          <p:nvPr/>
        </p:nvSpPr>
        <p:spPr>
          <a:xfrm>
            <a:off x="88529" y="2102738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3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2" name="Graphic 91" descr="Document outline">
            <a:extLst>
              <a:ext uri="{FF2B5EF4-FFF2-40B4-BE49-F238E27FC236}">
                <a16:creationId xmlns:a16="http://schemas.microsoft.com/office/drawing/2014/main" id="{55EAD8EC-52EB-CCE3-1154-1AEBDA7E8B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39" y="1734083"/>
            <a:ext cx="274320" cy="274320"/>
          </a:xfrm>
          <a:prstGeom prst="rect">
            <a:avLst/>
          </a:prstGeom>
        </p:spPr>
      </p:pic>
      <p:pic>
        <p:nvPicPr>
          <p:cNvPr id="94" name="Graphic 93" descr="Coins outline">
            <a:extLst>
              <a:ext uri="{FF2B5EF4-FFF2-40B4-BE49-F238E27FC236}">
                <a16:creationId xmlns:a16="http://schemas.microsoft.com/office/drawing/2014/main" id="{20D16FD9-A9B7-C469-BE0A-073B9F7828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839" y="2164300"/>
            <a:ext cx="274320" cy="274320"/>
          </a:xfrm>
          <a:prstGeom prst="rect">
            <a:avLst/>
          </a:prstGeom>
        </p:spPr>
      </p:pic>
      <p:pic>
        <p:nvPicPr>
          <p:cNvPr id="96" name="Graphic 95" descr="Cycle with people outline">
            <a:extLst>
              <a:ext uri="{FF2B5EF4-FFF2-40B4-BE49-F238E27FC236}">
                <a16:creationId xmlns:a16="http://schemas.microsoft.com/office/drawing/2014/main" id="{6BD3A169-B619-E6B4-EF58-38712B703E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839" y="2554353"/>
            <a:ext cx="274320" cy="274320"/>
          </a:xfrm>
          <a:prstGeom prst="rect">
            <a:avLst/>
          </a:prstGeom>
        </p:spPr>
      </p:pic>
      <p:pic>
        <p:nvPicPr>
          <p:cNvPr id="98" name="Graphic 97" descr="Upward trend outline">
            <a:extLst>
              <a:ext uri="{FF2B5EF4-FFF2-40B4-BE49-F238E27FC236}">
                <a16:creationId xmlns:a16="http://schemas.microsoft.com/office/drawing/2014/main" id="{BA457B8D-E98F-8EE2-FB10-4BFD805E38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839" y="2948301"/>
            <a:ext cx="274320" cy="274320"/>
          </a:xfrm>
          <a:prstGeom prst="rect">
            <a:avLst/>
          </a:prstGeom>
        </p:spPr>
      </p:pic>
      <p:pic>
        <p:nvPicPr>
          <p:cNvPr id="100" name="Graphic 99" descr="Lightbulb outline">
            <a:extLst>
              <a:ext uri="{FF2B5EF4-FFF2-40B4-BE49-F238E27FC236}">
                <a16:creationId xmlns:a16="http://schemas.microsoft.com/office/drawing/2014/main" id="{E15D8F46-5E3C-0F8E-4E99-764F907CE3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839" y="3369395"/>
            <a:ext cx="274320" cy="274320"/>
          </a:xfrm>
          <a:prstGeom prst="rect">
            <a:avLst/>
          </a:prstGeom>
        </p:spPr>
      </p:pic>
      <p:pic>
        <p:nvPicPr>
          <p:cNvPr id="102" name="Graphic 101" descr="CheckList outline">
            <a:extLst>
              <a:ext uri="{FF2B5EF4-FFF2-40B4-BE49-F238E27FC236}">
                <a16:creationId xmlns:a16="http://schemas.microsoft.com/office/drawing/2014/main" id="{C55706EF-C5EE-F820-0033-2FB222E952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161" y="3746830"/>
            <a:ext cx="274320" cy="27432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462368CB-832F-2A17-0DEA-7FCAED1870D3}"/>
              </a:ext>
            </a:extLst>
          </p:cNvPr>
          <p:cNvSpPr txBox="1"/>
          <p:nvPr/>
        </p:nvSpPr>
        <p:spPr>
          <a:xfrm>
            <a:off x="0" y="6390532"/>
            <a:ext cx="30697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bg1">
                    <a:lumMod val="75000"/>
                  </a:schemeClr>
                </a:solidFill>
              </a:rPr>
              <a:t>Shouary Verma </a:t>
            </a:r>
          </a:p>
          <a:p>
            <a:r>
              <a:rPr lang="en-IN" sz="1100" dirty="0">
                <a:solidFill>
                  <a:schemeClr val="bg1">
                    <a:lumMod val="75000"/>
                  </a:schemeClr>
                </a:solidFill>
              </a:rPr>
              <a:t>Persevex Internship Project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49EC4AB-69E4-56F6-1506-4E518CB07FB3}"/>
              </a:ext>
            </a:extLst>
          </p:cNvPr>
          <p:cNvSpPr txBox="1"/>
          <p:nvPr/>
        </p:nvSpPr>
        <p:spPr>
          <a:xfrm>
            <a:off x="2215236" y="1109816"/>
            <a:ext cx="519256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6246EA"/>
                </a:solidFill>
              </a:rPr>
              <a:t>03 | EXPENSE &amp; BUDGET</a:t>
            </a:r>
          </a:p>
          <a:p>
            <a:r>
              <a:rPr lang="en-IN" sz="3200" b="1" dirty="0"/>
              <a:t>Expense &amp; Budget </a:t>
            </a:r>
            <a:r>
              <a:rPr lang="en-IN" sz="3200" b="1" dirty="0">
                <a:solidFill>
                  <a:srgbClr val="6246EA"/>
                </a:solidFill>
              </a:rPr>
              <a:t>Analysis</a:t>
            </a:r>
          </a:p>
          <a:p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Analyze spending patterns, compare actual expenses against budgets, and identify significant financial variances.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8650F0-2D68-9045-E5DE-46F71CFB769B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82000"/>
          </a:blip>
          <a:srcRect t="14905" r="20791"/>
          <a:stretch>
            <a:fillRect/>
          </a:stretch>
        </p:blipFill>
        <p:spPr>
          <a:xfrm>
            <a:off x="7122290" y="0"/>
            <a:ext cx="5070023" cy="2690966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104" name="Rectangle: Rounded Corners 103">
            <a:hlinkClick r:id="rId11" action="ppaction://hlinksldjump"/>
            <a:extLst>
              <a:ext uri="{FF2B5EF4-FFF2-40B4-BE49-F238E27FC236}">
                <a16:creationId xmlns:a16="http://schemas.microsoft.com/office/drawing/2014/main" id="{F1B6E7F9-154A-42D3-B24B-A6D8EAE784EB}"/>
              </a:ext>
            </a:extLst>
          </p:cNvPr>
          <p:cNvSpPr/>
          <p:nvPr/>
        </p:nvSpPr>
        <p:spPr>
          <a:xfrm>
            <a:off x="55831" y="1233092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hlinkClick r:id="rId12" action="ppaction://hlinksldjump"/>
            <a:extLst>
              <a:ext uri="{FF2B5EF4-FFF2-40B4-BE49-F238E27FC236}">
                <a16:creationId xmlns:a16="http://schemas.microsoft.com/office/drawing/2014/main" id="{A87BB03D-12B3-845A-18CB-C45AA37169FD}"/>
              </a:ext>
            </a:extLst>
          </p:cNvPr>
          <p:cNvSpPr/>
          <p:nvPr/>
        </p:nvSpPr>
        <p:spPr>
          <a:xfrm>
            <a:off x="107160" y="1708824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65939B5-B970-45F5-2D7D-DD2A06FFE82A}"/>
              </a:ext>
            </a:extLst>
          </p:cNvPr>
          <p:cNvGrpSpPr/>
          <p:nvPr/>
        </p:nvGrpSpPr>
        <p:grpSpPr>
          <a:xfrm>
            <a:off x="2215236" y="2841373"/>
            <a:ext cx="2377440" cy="1110790"/>
            <a:chOff x="2215236" y="2841373"/>
            <a:chExt cx="2620924" cy="11107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6F810A8-7125-47F4-B103-675780283553}"/>
                </a:ext>
              </a:extLst>
            </p:cNvPr>
            <p:cNvSpPr/>
            <p:nvPr/>
          </p:nvSpPr>
          <p:spPr>
            <a:xfrm>
              <a:off x="2215236" y="2841373"/>
              <a:ext cx="2620924" cy="111079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E7EA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4937325-5C89-0C1D-565E-FA365122D2BD}"/>
                </a:ext>
              </a:extLst>
            </p:cNvPr>
            <p:cNvSpPr txBox="1"/>
            <p:nvPr/>
          </p:nvSpPr>
          <p:spPr>
            <a:xfrm>
              <a:off x="2314035" y="2879138"/>
              <a:ext cx="239004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    </a:t>
              </a:r>
              <a:r>
                <a:rPr lang="en-US" sz="16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Actual Expenses</a:t>
              </a:r>
              <a:endParaRPr lang="en-US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endParaRPr lang="en-US" dirty="0"/>
            </a:p>
            <a:p>
              <a:r>
                <a:rPr lang="en-US" sz="2400" dirty="0">
                  <a:solidFill>
                    <a:srgbClr val="6246EA"/>
                  </a:solidFill>
                </a:rPr>
                <a:t>$626.72M</a:t>
              </a:r>
              <a:endParaRPr lang="en-IN" sz="2400" dirty="0">
                <a:solidFill>
                  <a:srgbClr val="6246EA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C8B8BAB-22CC-F078-7134-4396064BCD5D}"/>
              </a:ext>
            </a:extLst>
          </p:cNvPr>
          <p:cNvGrpSpPr/>
          <p:nvPr/>
        </p:nvGrpSpPr>
        <p:grpSpPr>
          <a:xfrm>
            <a:off x="4720323" y="2841373"/>
            <a:ext cx="2377440" cy="1110790"/>
            <a:chOff x="2215236" y="2841373"/>
            <a:chExt cx="2620924" cy="11107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0780A8CA-88CF-A443-173A-F0C8F3BAA062}"/>
                </a:ext>
              </a:extLst>
            </p:cNvPr>
            <p:cNvSpPr/>
            <p:nvPr/>
          </p:nvSpPr>
          <p:spPr>
            <a:xfrm>
              <a:off x="2215236" y="2841373"/>
              <a:ext cx="2620924" cy="111079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E7EA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516007D-333B-21B1-FC60-6AACD0591633}"/>
                </a:ext>
              </a:extLst>
            </p:cNvPr>
            <p:cNvSpPr txBox="1"/>
            <p:nvPr/>
          </p:nvSpPr>
          <p:spPr>
            <a:xfrm>
              <a:off x="2314035" y="2879138"/>
              <a:ext cx="239004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    </a:t>
              </a:r>
              <a:r>
                <a:rPr lang="en-US" sz="16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Expense Budget</a:t>
              </a:r>
              <a:endParaRPr lang="en-US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endParaRPr lang="en-US" dirty="0"/>
            </a:p>
            <a:p>
              <a:r>
                <a:rPr lang="en-US" sz="2400" dirty="0">
                  <a:solidFill>
                    <a:srgbClr val="6246EA"/>
                  </a:solidFill>
                </a:rPr>
                <a:t>$744.93M</a:t>
              </a:r>
              <a:endParaRPr lang="en-IN" sz="2800" dirty="0">
                <a:solidFill>
                  <a:srgbClr val="6246EA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A973A8C-FE9C-E18C-8D77-BCE0E7A93970}"/>
              </a:ext>
            </a:extLst>
          </p:cNvPr>
          <p:cNvGrpSpPr/>
          <p:nvPr/>
        </p:nvGrpSpPr>
        <p:grpSpPr>
          <a:xfrm>
            <a:off x="7225410" y="2847559"/>
            <a:ext cx="2385275" cy="1110790"/>
            <a:chOff x="2215236" y="2841373"/>
            <a:chExt cx="2629561" cy="11107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EA20DBD-B945-BFC4-7820-265EFF90B2F5}"/>
                </a:ext>
              </a:extLst>
            </p:cNvPr>
            <p:cNvSpPr/>
            <p:nvPr/>
          </p:nvSpPr>
          <p:spPr>
            <a:xfrm>
              <a:off x="2215236" y="2841373"/>
              <a:ext cx="2620924" cy="111079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E7EA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C53C202-1766-0A50-FB1A-4C9E723B9DD0}"/>
                </a:ext>
              </a:extLst>
            </p:cNvPr>
            <p:cNvSpPr txBox="1"/>
            <p:nvPr/>
          </p:nvSpPr>
          <p:spPr>
            <a:xfrm>
              <a:off x="2314034" y="2879138"/>
              <a:ext cx="25307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    </a:t>
              </a:r>
              <a:r>
                <a:rPr lang="en-US" sz="16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Expense Variance</a:t>
              </a:r>
              <a:endParaRPr lang="en-US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endParaRPr lang="en-US" dirty="0"/>
            </a:p>
            <a:p>
              <a:r>
                <a:rPr lang="en-US" sz="2400" dirty="0">
                  <a:solidFill>
                    <a:srgbClr val="33CC33"/>
                  </a:solidFill>
                </a:rPr>
                <a:t>-$118.21M</a:t>
              </a:r>
              <a:endParaRPr lang="en-IN" sz="2400" dirty="0">
                <a:solidFill>
                  <a:srgbClr val="33CC33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A631085-5702-257E-850A-1A14CFD7A595}"/>
              </a:ext>
            </a:extLst>
          </p:cNvPr>
          <p:cNvGrpSpPr/>
          <p:nvPr/>
        </p:nvGrpSpPr>
        <p:grpSpPr>
          <a:xfrm>
            <a:off x="9730497" y="2837180"/>
            <a:ext cx="2377440" cy="1110790"/>
            <a:chOff x="2215236" y="2841373"/>
            <a:chExt cx="2620924" cy="11107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8A2BBEE-D701-B6D5-CCB4-2E5F4959EE10}"/>
                </a:ext>
              </a:extLst>
            </p:cNvPr>
            <p:cNvSpPr/>
            <p:nvPr/>
          </p:nvSpPr>
          <p:spPr>
            <a:xfrm>
              <a:off x="2215236" y="2841373"/>
              <a:ext cx="2620924" cy="111079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E7EA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3042FF8-E981-BF8D-804B-60C5BB7000FE}"/>
                </a:ext>
              </a:extLst>
            </p:cNvPr>
            <p:cNvSpPr txBox="1"/>
            <p:nvPr/>
          </p:nvSpPr>
          <p:spPr>
            <a:xfrm>
              <a:off x="2314034" y="2879138"/>
              <a:ext cx="249114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    </a:t>
              </a:r>
              <a:r>
                <a:rPr lang="en-US" sz="16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Budget Utilization</a:t>
              </a:r>
            </a:p>
            <a:p>
              <a:endParaRPr lang="en-US" dirty="0"/>
            </a:p>
            <a:p>
              <a:r>
                <a:rPr lang="en-US" sz="2400" dirty="0">
                  <a:solidFill>
                    <a:srgbClr val="6246EA"/>
                  </a:solidFill>
                </a:rPr>
                <a:t>84.13%</a:t>
              </a:r>
              <a:endParaRPr lang="en-IN" sz="2400" dirty="0">
                <a:solidFill>
                  <a:srgbClr val="6246EA"/>
                </a:solidFill>
              </a:endParaRPr>
            </a:p>
          </p:txBody>
        </p:sp>
      </p:grpSp>
      <p:pic>
        <p:nvPicPr>
          <p:cNvPr id="41" name="Graphic 40" descr="Arrow Right with solid fill">
            <a:extLst>
              <a:ext uri="{FF2B5EF4-FFF2-40B4-BE49-F238E27FC236}">
                <a16:creationId xmlns:a16="http://schemas.microsoft.com/office/drawing/2014/main" id="{36B47901-8AD4-776B-539E-A0094FAB78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785596">
            <a:off x="7323305" y="2931699"/>
            <a:ext cx="274320" cy="274320"/>
          </a:xfrm>
          <a:prstGeom prst="rect">
            <a:avLst/>
          </a:prstGeom>
        </p:spPr>
      </p:pic>
      <p:pic>
        <p:nvPicPr>
          <p:cNvPr id="45" name="Graphic 44" descr="Dollar with solid fill">
            <a:extLst>
              <a:ext uri="{FF2B5EF4-FFF2-40B4-BE49-F238E27FC236}">
                <a16:creationId xmlns:a16="http://schemas.microsoft.com/office/drawing/2014/main" id="{DACAF74A-D149-FE63-BBB3-06E4B5AE3B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88173" y="2919632"/>
            <a:ext cx="274320" cy="274320"/>
          </a:xfrm>
          <a:prstGeom prst="rect">
            <a:avLst/>
          </a:prstGeom>
        </p:spPr>
      </p:pic>
      <p:pic>
        <p:nvPicPr>
          <p:cNvPr id="47" name="Graphic 68" descr="Coins">
            <a:extLst>
              <a:ext uri="{FF2B5EF4-FFF2-40B4-BE49-F238E27FC236}">
                <a16:creationId xmlns:a16="http://schemas.microsoft.com/office/drawing/2014/main" id="{49AAA4F9-4655-5F8F-EB5A-7F93D86D0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86955" y="2948301"/>
            <a:ext cx="274320" cy="27432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1C27C3B5-D401-A254-B6C4-BB3781C128CB}"/>
              </a:ext>
            </a:extLst>
          </p:cNvPr>
          <p:cNvSpPr txBox="1"/>
          <p:nvPr/>
        </p:nvSpPr>
        <p:spPr>
          <a:xfrm>
            <a:off x="9820117" y="2885324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246EA"/>
                </a:solidFill>
              </a:rPr>
              <a:t>%</a:t>
            </a:r>
            <a:endParaRPr lang="en-IN" dirty="0">
              <a:solidFill>
                <a:srgbClr val="6246EA"/>
              </a:solidFill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A3763CCA-05A9-E6E1-908F-B390DDFEA1CC}"/>
              </a:ext>
            </a:extLst>
          </p:cNvPr>
          <p:cNvSpPr/>
          <p:nvPr/>
        </p:nvSpPr>
        <p:spPr>
          <a:xfrm>
            <a:off x="2215237" y="4084967"/>
            <a:ext cx="5282182" cy="2400657"/>
          </a:xfrm>
          <a:prstGeom prst="roundRect">
            <a:avLst>
              <a:gd name="adj" fmla="val 988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54" name="Chart 53">
            <a:extLst>
              <a:ext uri="{FF2B5EF4-FFF2-40B4-BE49-F238E27FC236}">
                <a16:creationId xmlns:a16="http://schemas.microsoft.com/office/drawing/2014/main" id="{2BA058D8-FFD1-9910-59A3-A3CBCE9BA8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4522169"/>
              </p:ext>
            </p:extLst>
          </p:nvPr>
        </p:nvGraphicFramePr>
        <p:xfrm>
          <a:off x="2339446" y="4214612"/>
          <a:ext cx="5192561" cy="21759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55A3ECD6-1580-54A4-A3AD-C10218D6A0F4}"/>
              </a:ext>
            </a:extLst>
          </p:cNvPr>
          <p:cNvSpPr/>
          <p:nvPr/>
        </p:nvSpPr>
        <p:spPr>
          <a:xfrm>
            <a:off x="7760379" y="4084966"/>
            <a:ext cx="4393191" cy="2400657"/>
          </a:xfrm>
          <a:prstGeom prst="roundRect">
            <a:avLst>
              <a:gd name="adj" fmla="val 1013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E66DA13-7E4A-8CEB-1FBA-FB219B44A904}"/>
              </a:ext>
            </a:extLst>
          </p:cNvPr>
          <p:cNvSpPr txBox="1"/>
          <p:nvPr/>
        </p:nvSpPr>
        <p:spPr>
          <a:xfrm>
            <a:off x="8270553" y="4037868"/>
            <a:ext cx="392176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Key Insights</a:t>
            </a:r>
            <a:endParaRPr lang="en-I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I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Actual expenses were 15.87% below budget.</a:t>
            </a:r>
          </a:p>
          <a:p>
            <a:endParaRPr lang="en-I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Payroll was the largest expense contributor at $411.99M.</a:t>
            </a:r>
          </a:p>
          <a:p>
            <a:endParaRPr lang="en-I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Outsourced Resources recorded $176.67M in expenses.</a:t>
            </a:r>
          </a:p>
          <a:p>
            <a:endParaRPr lang="en-I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Other People and Product Development exceeded their budgets.</a:t>
            </a:r>
          </a:p>
        </p:txBody>
      </p:sp>
      <p:pic>
        <p:nvPicPr>
          <p:cNvPr id="61" name="Graphic 60" descr="Badge 4 with solid fill">
            <a:extLst>
              <a:ext uri="{FF2B5EF4-FFF2-40B4-BE49-F238E27FC236}">
                <a16:creationId xmlns:a16="http://schemas.microsoft.com/office/drawing/2014/main" id="{1F57A8DF-9595-343E-F3F4-2A1BAEC2BA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004158" y="5920721"/>
            <a:ext cx="274320" cy="274320"/>
          </a:xfrm>
          <a:prstGeom prst="rect">
            <a:avLst/>
          </a:prstGeom>
        </p:spPr>
      </p:pic>
      <p:pic>
        <p:nvPicPr>
          <p:cNvPr id="63" name="Graphic 62" descr="Badge with solid fill">
            <a:extLst>
              <a:ext uri="{FF2B5EF4-FFF2-40B4-BE49-F238E27FC236}">
                <a16:creationId xmlns:a16="http://schemas.microsoft.com/office/drawing/2014/main" id="{35A0F405-4527-06A2-6BB8-F944FF4832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004158" y="4842981"/>
            <a:ext cx="274320" cy="274320"/>
          </a:xfrm>
          <a:prstGeom prst="rect">
            <a:avLst/>
          </a:prstGeom>
        </p:spPr>
      </p:pic>
      <p:pic>
        <p:nvPicPr>
          <p:cNvPr id="67" name="Graphic 66" descr="Badge 3 with solid fill">
            <a:extLst>
              <a:ext uri="{FF2B5EF4-FFF2-40B4-BE49-F238E27FC236}">
                <a16:creationId xmlns:a16="http://schemas.microsoft.com/office/drawing/2014/main" id="{D88C9B3D-358D-0A6C-0458-71AF8F7728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996233" y="5381851"/>
            <a:ext cx="274320" cy="274320"/>
          </a:xfrm>
          <a:prstGeom prst="rect">
            <a:avLst/>
          </a:prstGeom>
        </p:spPr>
      </p:pic>
      <p:pic>
        <p:nvPicPr>
          <p:cNvPr id="71" name="Graphic 70" descr="Badge 1 with solid fill">
            <a:extLst>
              <a:ext uri="{FF2B5EF4-FFF2-40B4-BE49-F238E27FC236}">
                <a16:creationId xmlns:a16="http://schemas.microsoft.com/office/drawing/2014/main" id="{99EC0BA4-3F0A-E3D8-698D-4180D44FD6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004158" y="4459089"/>
            <a:ext cx="274320" cy="274320"/>
          </a:xfrm>
          <a:prstGeom prst="rect">
            <a:avLst/>
          </a:prstGeom>
        </p:spPr>
      </p:pic>
      <p:pic>
        <p:nvPicPr>
          <p:cNvPr id="77" name="Graphic 76" descr="Lightbulb with solid fill">
            <a:extLst>
              <a:ext uri="{FF2B5EF4-FFF2-40B4-BE49-F238E27FC236}">
                <a16:creationId xmlns:a16="http://schemas.microsoft.com/office/drawing/2014/main" id="{E2CD253D-47D1-114F-31E7-B03E7C1F11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004158" y="4088965"/>
            <a:ext cx="274320" cy="274320"/>
          </a:xfrm>
          <a:prstGeom prst="rect">
            <a:avLst/>
          </a:prstGeom>
        </p:spPr>
      </p:pic>
      <p:sp>
        <p:nvSpPr>
          <p:cNvPr id="81" name="Rectangle: Rounded Corners 80">
            <a:hlinkClick r:id="rId22" action="ppaction://hlinksldjump"/>
            <a:extLst>
              <a:ext uri="{FF2B5EF4-FFF2-40B4-BE49-F238E27FC236}">
                <a16:creationId xmlns:a16="http://schemas.microsoft.com/office/drawing/2014/main" id="{59C88AAB-4611-3939-2B6E-4FD3543C4B28}"/>
              </a:ext>
            </a:extLst>
          </p:cNvPr>
          <p:cNvSpPr/>
          <p:nvPr/>
        </p:nvSpPr>
        <p:spPr>
          <a:xfrm>
            <a:off x="119189" y="2523071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5" name="Rectangle: Rounded Corners 84">
            <a:hlinkClick r:id="rId23" action="ppaction://hlinksldjump"/>
            <a:extLst>
              <a:ext uri="{FF2B5EF4-FFF2-40B4-BE49-F238E27FC236}">
                <a16:creationId xmlns:a16="http://schemas.microsoft.com/office/drawing/2014/main" id="{7189FC2E-DA6A-816A-A02B-EC1013B53938}"/>
              </a:ext>
            </a:extLst>
          </p:cNvPr>
          <p:cNvSpPr/>
          <p:nvPr/>
        </p:nvSpPr>
        <p:spPr>
          <a:xfrm>
            <a:off x="54656" y="2901130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9" name="Rectangle: Rounded Corners 88">
            <a:hlinkClick r:id="rId24" action="ppaction://hlinksldjump"/>
            <a:extLst>
              <a:ext uri="{FF2B5EF4-FFF2-40B4-BE49-F238E27FC236}">
                <a16:creationId xmlns:a16="http://schemas.microsoft.com/office/drawing/2014/main" id="{125BF3E0-0A92-F880-526C-ABF35E576106}"/>
              </a:ext>
            </a:extLst>
          </p:cNvPr>
          <p:cNvSpPr/>
          <p:nvPr/>
        </p:nvSpPr>
        <p:spPr>
          <a:xfrm>
            <a:off x="79932" y="3322815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3" name="Rectangle: Rounded Corners 92">
            <a:hlinkClick r:id="rId25" action="ppaction://hlinksldjump"/>
            <a:extLst>
              <a:ext uri="{FF2B5EF4-FFF2-40B4-BE49-F238E27FC236}">
                <a16:creationId xmlns:a16="http://schemas.microsoft.com/office/drawing/2014/main" id="{7DB04986-B554-2004-0A67-F2819ECC7D7C}"/>
              </a:ext>
            </a:extLst>
          </p:cNvPr>
          <p:cNvSpPr/>
          <p:nvPr/>
        </p:nvSpPr>
        <p:spPr>
          <a:xfrm>
            <a:off x="67378" y="3723827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2981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2FB8A2-9CF6-CEB8-ADF0-76FC88957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Oval 71">
            <a:extLst>
              <a:ext uri="{FF2B5EF4-FFF2-40B4-BE49-F238E27FC236}">
                <a16:creationId xmlns:a16="http://schemas.microsoft.com/office/drawing/2014/main" id="{1E28E19F-3ED2-D970-FE53-A47234177904}"/>
              </a:ext>
            </a:extLst>
          </p:cNvPr>
          <p:cNvSpPr/>
          <p:nvPr/>
        </p:nvSpPr>
        <p:spPr>
          <a:xfrm>
            <a:off x="-439476" y="-628633"/>
            <a:ext cx="5072743" cy="5108113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F3F9D53-4DFB-A262-7BC2-28D525654F0D}"/>
              </a:ext>
            </a:extLst>
          </p:cNvPr>
          <p:cNvSpPr/>
          <p:nvPr/>
        </p:nvSpPr>
        <p:spPr>
          <a:xfrm>
            <a:off x="-1" y="0"/>
            <a:ext cx="2057400" cy="6858000"/>
          </a:xfrm>
          <a:prstGeom prst="rect">
            <a:avLst/>
          </a:prstGeom>
          <a:solidFill>
            <a:srgbClr val="1018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17B0C2A-FC61-384F-29EE-56214191E3F1}"/>
              </a:ext>
            </a:extLst>
          </p:cNvPr>
          <p:cNvSpPr/>
          <p:nvPr/>
        </p:nvSpPr>
        <p:spPr>
          <a:xfrm>
            <a:off x="2567005" y="-2300418"/>
            <a:ext cx="4572000" cy="4526155"/>
          </a:xfrm>
          <a:prstGeom prst="ellipse">
            <a:avLst/>
          </a:prstGeom>
          <a:solidFill>
            <a:srgbClr val="6246EA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55DFBCB-B0CF-7162-C2AA-1E46E12B70CF}"/>
              </a:ext>
            </a:extLst>
          </p:cNvPr>
          <p:cNvSpPr txBox="1"/>
          <p:nvPr/>
        </p:nvSpPr>
        <p:spPr>
          <a:xfrm>
            <a:off x="-1" y="141514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FinInsight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D1AA66F-C80E-1353-5554-8A59814288BA}"/>
              </a:ext>
            </a:extLst>
          </p:cNvPr>
          <p:cNvSpPr txBox="1"/>
          <p:nvPr/>
        </p:nvSpPr>
        <p:spPr>
          <a:xfrm>
            <a:off x="354511" y="1290152"/>
            <a:ext cx="1578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Home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E9512B4-AC18-8186-B602-7BEA64ADEE8D}"/>
              </a:ext>
            </a:extLst>
          </p:cNvPr>
          <p:cNvSpPr txBox="1"/>
          <p:nvPr/>
        </p:nvSpPr>
        <p:spPr>
          <a:xfrm>
            <a:off x="338181" y="1771164"/>
            <a:ext cx="8962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Overview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8879E92-61EA-37D6-C390-4BF0DB8FD20A}"/>
              </a:ext>
            </a:extLst>
          </p:cNvPr>
          <p:cNvSpPr txBox="1"/>
          <p:nvPr/>
        </p:nvSpPr>
        <p:spPr>
          <a:xfrm>
            <a:off x="338181" y="2170532"/>
            <a:ext cx="1505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Expense &amp; Budget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A08E664-67BB-7F6F-6289-56BFCB09E6EC}"/>
              </a:ext>
            </a:extLst>
          </p:cNvPr>
          <p:cNvSpPr txBox="1"/>
          <p:nvPr/>
        </p:nvSpPr>
        <p:spPr>
          <a:xfrm>
            <a:off x="338178" y="2958216"/>
            <a:ext cx="1505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Forecast Analysis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501064A-21C0-15A1-8D77-25F236E87F9C}"/>
              </a:ext>
            </a:extLst>
          </p:cNvPr>
          <p:cNvSpPr txBox="1"/>
          <p:nvPr/>
        </p:nvSpPr>
        <p:spPr>
          <a:xfrm>
            <a:off x="338179" y="2564374"/>
            <a:ext cx="1741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Department &amp; Region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72B9A65-B133-E97A-EEC2-211412598671}"/>
              </a:ext>
            </a:extLst>
          </p:cNvPr>
          <p:cNvSpPr txBox="1"/>
          <p:nvPr/>
        </p:nvSpPr>
        <p:spPr>
          <a:xfrm>
            <a:off x="338176" y="3745344"/>
            <a:ext cx="1063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2700146-805B-100B-36A1-0A4110C6C19C}"/>
              </a:ext>
            </a:extLst>
          </p:cNvPr>
          <p:cNvSpPr txBox="1"/>
          <p:nvPr/>
        </p:nvSpPr>
        <p:spPr>
          <a:xfrm>
            <a:off x="338177" y="3351780"/>
            <a:ext cx="1063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Key Insights</a:t>
            </a:r>
          </a:p>
        </p:txBody>
      </p:sp>
      <p:pic>
        <p:nvPicPr>
          <p:cNvPr id="88" name="Graphic 87" descr="Home outline">
            <a:extLst>
              <a:ext uri="{FF2B5EF4-FFF2-40B4-BE49-F238E27FC236}">
                <a16:creationId xmlns:a16="http://schemas.microsoft.com/office/drawing/2014/main" id="{DD9A787C-78EB-7546-C327-A23B6485C6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60" y="1268089"/>
            <a:ext cx="276999" cy="276999"/>
          </a:xfrm>
          <a:prstGeom prst="rect">
            <a:avLst/>
          </a:prstGeom>
        </p:spPr>
      </p:pic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BC1E23F1-F61D-60B6-1478-98A82D6A3307}"/>
              </a:ext>
            </a:extLst>
          </p:cNvPr>
          <p:cNvSpPr/>
          <p:nvPr/>
        </p:nvSpPr>
        <p:spPr>
          <a:xfrm>
            <a:off x="88529" y="2505074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3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2" name="Graphic 91" descr="Document outline">
            <a:extLst>
              <a:ext uri="{FF2B5EF4-FFF2-40B4-BE49-F238E27FC236}">
                <a16:creationId xmlns:a16="http://schemas.microsoft.com/office/drawing/2014/main" id="{3F2D40B4-6DE2-2818-B72A-2B489B7958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39" y="1734083"/>
            <a:ext cx="274320" cy="274320"/>
          </a:xfrm>
          <a:prstGeom prst="rect">
            <a:avLst/>
          </a:prstGeom>
        </p:spPr>
      </p:pic>
      <p:pic>
        <p:nvPicPr>
          <p:cNvPr id="94" name="Graphic 93" descr="Coins outline">
            <a:extLst>
              <a:ext uri="{FF2B5EF4-FFF2-40B4-BE49-F238E27FC236}">
                <a16:creationId xmlns:a16="http://schemas.microsoft.com/office/drawing/2014/main" id="{81E98437-1C74-AF93-D2C9-76D043EB20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839" y="2164300"/>
            <a:ext cx="274320" cy="274320"/>
          </a:xfrm>
          <a:prstGeom prst="rect">
            <a:avLst/>
          </a:prstGeom>
        </p:spPr>
      </p:pic>
      <p:pic>
        <p:nvPicPr>
          <p:cNvPr id="96" name="Graphic 95" descr="Cycle with people outline">
            <a:extLst>
              <a:ext uri="{FF2B5EF4-FFF2-40B4-BE49-F238E27FC236}">
                <a16:creationId xmlns:a16="http://schemas.microsoft.com/office/drawing/2014/main" id="{0F64717B-4F27-C51C-F3A5-A5B96E2173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839" y="2554353"/>
            <a:ext cx="274320" cy="274320"/>
          </a:xfrm>
          <a:prstGeom prst="rect">
            <a:avLst/>
          </a:prstGeom>
        </p:spPr>
      </p:pic>
      <p:pic>
        <p:nvPicPr>
          <p:cNvPr id="98" name="Graphic 97" descr="Upward trend outline">
            <a:extLst>
              <a:ext uri="{FF2B5EF4-FFF2-40B4-BE49-F238E27FC236}">
                <a16:creationId xmlns:a16="http://schemas.microsoft.com/office/drawing/2014/main" id="{35805119-87C9-B83A-056F-2EB45E44D5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839" y="2948301"/>
            <a:ext cx="274320" cy="274320"/>
          </a:xfrm>
          <a:prstGeom prst="rect">
            <a:avLst/>
          </a:prstGeom>
        </p:spPr>
      </p:pic>
      <p:pic>
        <p:nvPicPr>
          <p:cNvPr id="100" name="Graphic 99" descr="Lightbulb outline">
            <a:extLst>
              <a:ext uri="{FF2B5EF4-FFF2-40B4-BE49-F238E27FC236}">
                <a16:creationId xmlns:a16="http://schemas.microsoft.com/office/drawing/2014/main" id="{45D6A2D7-6945-41A9-4E1F-722CC008C9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839" y="3369395"/>
            <a:ext cx="274320" cy="274320"/>
          </a:xfrm>
          <a:prstGeom prst="rect">
            <a:avLst/>
          </a:prstGeom>
        </p:spPr>
      </p:pic>
      <p:pic>
        <p:nvPicPr>
          <p:cNvPr id="102" name="Graphic 101" descr="CheckList outline">
            <a:extLst>
              <a:ext uri="{FF2B5EF4-FFF2-40B4-BE49-F238E27FC236}">
                <a16:creationId xmlns:a16="http://schemas.microsoft.com/office/drawing/2014/main" id="{E59BD325-EC3F-CD9C-E598-F80106739E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161" y="3746830"/>
            <a:ext cx="274320" cy="27432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1E142878-A385-5781-E5A9-0D618CF21EB4}"/>
              </a:ext>
            </a:extLst>
          </p:cNvPr>
          <p:cNvSpPr txBox="1"/>
          <p:nvPr/>
        </p:nvSpPr>
        <p:spPr>
          <a:xfrm>
            <a:off x="0" y="6390532"/>
            <a:ext cx="30697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bg1">
                    <a:lumMod val="75000"/>
                  </a:schemeClr>
                </a:solidFill>
              </a:rPr>
              <a:t>Shouary Verma </a:t>
            </a:r>
          </a:p>
          <a:p>
            <a:r>
              <a:rPr lang="en-IN" sz="1100" dirty="0">
                <a:solidFill>
                  <a:schemeClr val="bg1">
                    <a:lumMod val="75000"/>
                  </a:schemeClr>
                </a:solidFill>
              </a:rPr>
              <a:t>Persevex Internship Project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1A3638-2C97-E09F-8ED9-B60BC2DAF7E6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82000"/>
          </a:blip>
          <a:srcRect l="1" t="14905" r="20795"/>
          <a:stretch>
            <a:fillRect/>
          </a:stretch>
        </p:blipFill>
        <p:spPr>
          <a:xfrm>
            <a:off x="7122290" y="0"/>
            <a:ext cx="5069710" cy="2690966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104" name="Rectangle: Rounded Corners 103">
            <a:hlinkClick r:id="rId11" action="ppaction://hlinksldjump"/>
            <a:extLst>
              <a:ext uri="{FF2B5EF4-FFF2-40B4-BE49-F238E27FC236}">
                <a16:creationId xmlns:a16="http://schemas.microsoft.com/office/drawing/2014/main" id="{F1D6B236-60CB-0DF7-7821-2C3EF11C4B18}"/>
              </a:ext>
            </a:extLst>
          </p:cNvPr>
          <p:cNvSpPr/>
          <p:nvPr/>
        </p:nvSpPr>
        <p:spPr>
          <a:xfrm>
            <a:off x="55831" y="1233092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hlinkClick r:id="rId12" action="ppaction://hlinksldjump"/>
            <a:extLst>
              <a:ext uri="{FF2B5EF4-FFF2-40B4-BE49-F238E27FC236}">
                <a16:creationId xmlns:a16="http://schemas.microsoft.com/office/drawing/2014/main" id="{0C1BB337-68D8-E191-D61A-C00EBDB99BEF}"/>
              </a:ext>
            </a:extLst>
          </p:cNvPr>
          <p:cNvSpPr/>
          <p:nvPr/>
        </p:nvSpPr>
        <p:spPr>
          <a:xfrm>
            <a:off x="107160" y="1708824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40A1B4-AA2D-C018-74E8-2E0805562111}"/>
              </a:ext>
            </a:extLst>
          </p:cNvPr>
          <p:cNvSpPr/>
          <p:nvPr/>
        </p:nvSpPr>
        <p:spPr>
          <a:xfrm>
            <a:off x="2215236" y="2741033"/>
            <a:ext cx="5192561" cy="2618908"/>
          </a:xfrm>
          <a:prstGeom prst="roundRect">
            <a:avLst>
              <a:gd name="adj" fmla="val 821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C8E5C6E-8B5F-AE2F-41E1-B163FE2AAE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6737431"/>
              </p:ext>
            </p:extLst>
          </p:nvPr>
        </p:nvGraphicFramePr>
        <p:xfrm>
          <a:off x="2283414" y="2819484"/>
          <a:ext cx="4970475" cy="2365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E1D27A1-87FD-C81B-36EA-586B6A29DCDF}"/>
              </a:ext>
            </a:extLst>
          </p:cNvPr>
          <p:cNvSpPr/>
          <p:nvPr/>
        </p:nvSpPr>
        <p:spPr>
          <a:xfrm>
            <a:off x="7748447" y="2741033"/>
            <a:ext cx="4056488" cy="2618908"/>
          </a:xfrm>
          <a:prstGeom prst="roundRect">
            <a:avLst>
              <a:gd name="adj" fmla="val 821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EB970DC-3419-945E-31C5-7273F47471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807942"/>
              </p:ext>
            </p:extLst>
          </p:nvPr>
        </p:nvGraphicFramePr>
        <p:xfrm>
          <a:off x="7893966" y="2780487"/>
          <a:ext cx="3765449" cy="251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150">
                  <a:extLst>
                    <a:ext uri="{9D8B030D-6E8A-4147-A177-3AD203B41FA5}">
                      <a16:colId xmlns:a16="http://schemas.microsoft.com/office/drawing/2014/main" val="2462567105"/>
                    </a:ext>
                  </a:extLst>
                </a:gridCol>
                <a:gridCol w="1335112">
                  <a:extLst>
                    <a:ext uri="{9D8B030D-6E8A-4147-A177-3AD203B41FA5}">
                      <a16:colId xmlns:a16="http://schemas.microsoft.com/office/drawing/2014/main" val="3769681268"/>
                    </a:ext>
                  </a:extLst>
                </a:gridCol>
                <a:gridCol w="1175187">
                  <a:extLst>
                    <a:ext uri="{9D8B030D-6E8A-4147-A177-3AD203B41FA5}">
                      <a16:colId xmlns:a16="http://schemas.microsoft.com/office/drawing/2014/main" val="33198588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Region</a:t>
                      </a:r>
                    </a:p>
                  </a:txBody>
                  <a:tcPr anchor="ctr">
                    <a:solidFill>
                      <a:srgbClr val="B9AAFF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Actual ($M)</a:t>
                      </a:r>
                    </a:p>
                  </a:txBody>
                  <a:tcPr anchor="ctr">
                    <a:solidFill>
                      <a:srgbClr val="B9AAFF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Budget ($M)</a:t>
                      </a:r>
                    </a:p>
                  </a:txBody>
                  <a:tcPr anchor="ctr">
                    <a:solidFill>
                      <a:srgbClr val="B9AAFF">
                        <a:alpha val="5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793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CorpHQ</a:t>
                      </a:r>
                    </a:p>
                  </a:txBody>
                  <a:tcPr>
                    <a:solidFill>
                      <a:srgbClr val="C4B7FF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476.16</a:t>
                      </a:r>
                    </a:p>
                  </a:txBody>
                  <a:tcPr>
                    <a:solidFill>
                      <a:srgbClr val="C4B7FF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574.01</a:t>
                      </a:r>
                    </a:p>
                  </a:txBody>
                  <a:tcPr>
                    <a:solidFill>
                      <a:srgbClr val="C4B7FF">
                        <a:alpha val="2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410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United States</a:t>
                      </a:r>
                    </a:p>
                  </a:txBody>
                  <a:tcPr>
                    <a:solidFill>
                      <a:srgbClr val="C4B7FF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62.60</a:t>
                      </a:r>
                    </a:p>
                  </a:txBody>
                  <a:tcPr>
                    <a:solidFill>
                      <a:srgbClr val="C4B7FF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64.07</a:t>
                      </a:r>
                    </a:p>
                  </a:txBody>
                  <a:tcPr>
                    <a:solidFill>
                      <a:srgbClr val="C4B7FF">
                        <a:alpha val="2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049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UK</a:t>
                      </a:r>
                    </a:p>
                  </a:txBody>
                  <a:tcPr>
                    <a:solidFill>
                      <a:srgbClr val="C4B7FF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28.97</a:t>
                      </a:r>
                    </a:p>
                  </a:txBody>
                  <a:tcPr>
                    <a:solidFill>
                      <a:srgbClr val="C4B7FF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34.57</a:t>
                      </a:r>
                    </a:p>
                  </a:txBody>
                  <a:tcPr>
                    <a:solidFill>
                      <a:srgbClr val="C4B7FF">
                        <a:alpha val="2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816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India</a:t>
                      </a:r>
                    </a:p>
                  </a:txBody>
                  <a:tcPr>
                    <a:solidFill>
                      <a:srgbClr val="C4B7FF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7.26</a:t>
                      </a:r>
                    </a:p>
                  </a:txBody>
                  <a:tcPr>
                    <a:solidFill>
                      <a:srgbClr val="C4B7FF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8.85</a:t>
                      </a:r>
                    </a:p>
                  </a:txBody>
                  <a:tcPr>
                    <a:solidFill>
                      <a:srgbClr val="C4B7FF">
                        <a:alpha val="2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312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Germany</a:t>
                      </a:r>
                    </a:p>
                  </a:txBody>
                  <a:tcPr>
                    <a:solidFill>
                      <a:srgbClr val="C4B7FF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5.40</a:t>
                      </a:r>
                    </a:p>
                  </a:txBody>
                  <a:tcPr>
                    <a:solidFill>
                      <a:srgbClr val="C4B7FF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8.15</a:t>
                      </a:r>
                    </a:p>
                  </a:txBody>
                  <a:tcPr>
                    <a:solidFill>
                      <a:srgbClr val="C4B7FF">
                        <a:alpha val="2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080749"/>
                  </a:ext>
                </a:extLst>
              </a:tr>
            </a:tbl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E3A0E63-222F-A8F3-25ED-0F1856F98C52}"/>
              </a:ext>
            </a:extLst>
          </p:cNvPr>
          <p:cNvSpPr/>
          <p:nvPr/>
        </p:nvSpPr>
        <p:spPr>
          <a:xfrm>
            <a:off x="2215236" y="5510071"/>
            <a:ext cx="9589699" cy="1229360"/>
          </a:xfrm>
          <a:prstGeom prst="roundRect">
            <a:avLst/>
          </a:prstGeom>
          <a:solidFill>
            <a:srgbClr val="B9AAFF">
              <a:alpha val="18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2A676E-DAC6-BD38-2A94-6B0BCE7C3D0A}"/>
              </a:ext>
            </a:extLst>
          </p:cNvPr>
          <p:cNvSpPr txBox="1"/>
          <p:nvPr/>
        </p:nvSpPr>
        <p:spPr>
          <a:xfrm>
            <a:off x="2496874" y="5585269"/>
            <a:ext cx="275082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Insights</a:t>
            </a:r>
          </a:p>
          <a:p>
            <a:endParaRPr lang="en-I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Payroll and Outsourced Resources are</a:t>
            </a:r>
          </a:p>
          <a:p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two largest account-level expense</a:t>
            </a:r>
          </a:p>
          <a:p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contributors.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E33151-1796-DD17-2491-33780ECE978A}"/>
              </a:ext>
            </a:extLst>
          </p:cNvPr>
          <p:cNvSpPr txBox="1"/>
          <p:nvPr/>
        </p:nvSpPr>
        <p:spPr>
          <a:xfrm>
            <a:off x="5845279" y="6124751"/>
            <a:ext cx="25540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Expense balances were 15.87% below budget overall.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42781D-ACF8-FF59-5A91-9CE1C11AD9F9}"/>
              </a:ext>
            </a:extLst>
          </p:cNvPr>
          <p:cNvSpPr txBox="1"/>
          <p:nvPr/>
        </p:nvSpPr>
        <p:spPr>
          <a:xfrm>
            <a:off x="8908596" y="6124751"/>
            <a:ext cx="275081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Department and regional breakdowns help identify where financial variances are concentrated.</a:t>
            </a:r>
          </a:p>
        </p:txBody>
      </p:sp>
      <p:pic>
        <p:nvPicPr>
          <p:cNvPr id="16" name="Graphic 15" descr="Badge 1 outline">
            <a:extLst>
              <a:ext uri="{FF2B5EF4-FFF2-40B4-BE49-F238E27FC236}">
                <a16:creationId xmlns:a16="http://schemas.microsoft.com/office/drawing/2014/main" id="{EC64811A-7024-ADA3-06D0-7FE3D5CD5D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13661" y="5849675"/>
            <a:ext cx="365760" cy="365760"/>
          </a:xfrm>
          <a:prstGeom prst="rect">
            <a:avLst/>
          </a:prstGeom>
        </p:spPr>
      </p:pic>
      <p:pic>
        <p:nvPicPr>
          <p:cNvPr id="18" name="Graphic 17" descr="Badge outline">
            <a:extLst>
              <a:ext uri="{FF2B5EF4-FFF2-40B4-BE49-F238E27FC236}">
                <a16:creationId xmlns:a16="http://schemas.microsoft.com/office/drawing/2014/main" id="{C7F7BAAE-EC0D-57B0-ADF8-D7575B2A33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45279" y="5791741"/>
            <a:ext cx="365760" cy="365760"/>
          </a:xfrm>
          <a:prstGeom prst="rect">
            <a:avLst/>
          </a:prstGeom>
        </p:spPr>
      </p:pic>
      <p:pic>
        <p:nvPicPr>
          <p:cNvPr id="21" name="Graphic 20" descr="Badge 3 outline">
            <a:extLst>
              <a:ext uri="{FF2B5EF4-FFF2-40B4-BE49-F238E27FC236}">
                <a16:creationId xmlns:a16="http://schemas.microsoft.com/office/drawing/2014/main" id="{A11F02FF-87E4-F348-CFCF-E7D56D7CE2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908596" y="5757485"/>
            <a:ext cx="365760" cy="365760"/>
          </a:xfrm>
          <a:prstGeom prst="rect">
            <a:avLst/>
          </a:prstGeom>
        </p:spPr>
      </p:pic>
      <p:sp>
        <p:nvSpPr>
          <p:cNvPr id="22" name="Rectangle: Rounded Corners 21">
            <a:hlinkClick r:id="rId17" action="ppaction://hlinksldjump"/>
            <a:extLst>
              <a:ext uri="{FF2B5EF4-FFF2-40B4-BE49-F238E27FC236}">
                <a16:creationId xmlns:a16="http://schemas.microsoft.com/office/drawing/2014/main" id="{5F453040-63F6-E55A-D303-A09BAC58A8C4}"/>
              </a:ext>
            </a:extLst>
          </p:cNvPr>
          <p:cNvSpPr/>
          <p:nvPr/>
        </p:nvSpPr>
        <p:spPr>
          <a:xfrm>
            <a:off x="88529" y="2115925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Rectangle: Rounded Corners 28">
            <a:hlinkClick r:id="rId18" action="ppaction://hlinksldjump"/>
            <a:extLst>
              <a:ext uri="{FF2B5EF4-FFF2-40B4-BE49-F238E27FC236}">
                <a16:creationId xmlns:a16="http://schemas.microsoft.com/office/drawing/2014/main" id="{34330C83-FADC-E1AF-2B40-63C2BF764F80}"/>
              </a:ext>
            </a:extLst>
          </p:cNvPr>
          <p:cNvSpPr/>
          <p:nvPr/>
        </p:nvSpPr>
        <p:spPr>
          <a:xfrm>
            <a:off x="54656" y="2901130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95CBF6A-1479-01FE-C378-E6B1A1F9AAFC}"/>
              </a:ext>
            </a:extLst>
          </p:cNvPr>
          <p:cNvSpPr txBox="1"/>
          <p:nvPr/>
        </p:nvSpPr>
        <p:spPr>
          <a:xfrm>
            <a:off x="2215236" y="1109816"/>
            <a:ext cx="519256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6246EA"/>
                </a:solidFill>
              </a:rPr>
              <a:t>04 | DEPARTMENT &amp; REGION</a:t>
            </a:r>
          </a:p>
          <a:p>
            <a:r>
              <a:rPr lang="en-IN" sz="3200" b="1" dirty="0"/>
              <a:t>Department &amp; Region </a:t>
            </a:r>
            <a:r>
              <a:rPr lang="en-IN" sz="3200" b="1" dirty="0">
                <a:solidFill>
                  <a:srgbClr val="6246EA"/>
                </a:solidFill>
              </a:rPr>
              <a:t>Analysis</a:t>
            </a:r>
          </a:p>
          <a:p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Compare expenses across organizational functions and geographical regions to identify cost drivers and performance differences.</a:t>
            </a:r>
          </a:p>
        </p:txBody>
      </p:sp>
      <p:sp>
        <p:nvSpPr>
          <p:cNvPr id="34" name="Rectangle: Rounded Corners 33">
            <a:hlinkClick r:id="rId19" action="ppaction://hlinksldjump"/>
            <a:extLst>
              <a:ext uri="{FF2B5EF4-FFF2-40B4-BE49-F238E27FC236}">
                <a16:creationId xmlns:a16="http://schemas.microsoft.com/office/drawing/2014/main" id="{5E4E87CC-2D89-2C5B-D813-80E6D15AE9AB}"/>
              </a:ext>
            </a:extLst>
          </p:cNvPr>
          <p:cNvSpPr/>
          <p:nvPr/>
        </p:nvSpPr>
        <p:spPr>
          <a:xfrm>
            <a:off x="79932" y="3322815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: Rounded Corners 36">
            <a:hlinkClick r:id="rId20" action="ppaction://hlinksldjump"/>
            <a:extLst>
              <a:ext uri="{FF2B5EF4-FFF2-40B4-BE49-F238E27FC236}">
                <a16:creationId xmlns:a16="http://schemas.microsoft.com/office/drawing/2014/main" id="{D700ECAC-A1D4-D9AA-7FEE-69D3BBAA0E41}"/>
              </a:ext>
            </a:extLst>
          </p:cNvPr>
          <p:cNvSpPr/>
          <p:nvPr/>
        </p:nvSpPr>
        <p:spPr>
          <a:xfrm>
            <a:off x="67378" y="3723827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9958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474486-45D1-3BCF-21FC-FC205E10D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Oval 72">
            <a:extLst>
              <a:ext uri="{FF2B5EF4-FFF2-40B4-BE49-F238E27FC236}">
                <a16:creationId xmlns:a16="http://schemas.microsoft.com/office/drawing/2014/main" id="{6EA9926F-7930-930B-EA31-B0F5DA06B2D9}"/>
              </a:ext>
            </a:extLst>
          </p:cNvPr>
          <p:cNvSpPr/>
          <p:nvPr/>
        </p:nvSpPr>
        <p:spPr>
          <a:xfrm>
            <a:off x="2006086" y="-182354"/>
            <a:ext cx="4572000" cy="4526155"/>
          </a:xfrm>
          <a:prstGeom prst="ellipse">
            <a:avLst/>
          </a:prstGeom>
          <a:solidFill>
            <a:srgbClr val="6246EA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2969077B-1F06-7716-5DD3-F57144AF574F}"/>
              </a:ext>
            </a:extLst>
          </p:cNvPr>
          <p:cNvSpPr/>
          <p:nvPr/>
        </p:nvSpPr>
        <p:spPr>
          <a:xfrm>
            <a:off x="4841996" y="-3636162"/>
            <a:ext cx="5072743" cy="5108113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36D6F65-23E7-C87F-B11E-EE8079FFAFB3}"/>
              </a:ext>
            </a:extLst>
          </p:cNvPr>
          <p:cNvSpPr/>
          <p:nvPr/>
        </p:nvSpPr>
        <p:spPr>
          <a:xfrm>
            <a:off x="-1" y="0"/>
            <a:ext cx="2057400" cy="6858000"/>
          </a:xfrm>
          <a:prstGeom prst="rect">
            <a:avLst/>
          </a:prstGeom>
          <a:solidFill>
            <a:srgbClr val="1018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B328F55-068D-4BF0-886D-87F43538FE0D}"/>
              </a:ext>
            </a:extLst>
          </p:cNvPr>
          <p:cNvSpPr txBox="1"/>
          <p:nvPr/>
        </p:nvSpPr>
        <p:spPr>
          <a:xfrm>
            <a:off x="-1" y="141514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FinInsight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99506A9-192F-760A-9108-340FEE21C113}"/>
              </a:ext>
            </a:extLst>
          </p:cNvPr>
          <p:cNvSpPr txBox="1"/>
          <p:nvPr/>
        </p:nvSpPr>
        <p:spPr>
          <a:xfrm>
            <a:off x="354511" y="1290152"/>
            <a:ext cx="1578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Home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8C6F492-1C12-4E7F-1DBC-6280F36E48BC}"/>
              </a:ext>
            </a:extLst>
          </p:cNvPr>
          <p:cNvSpPr txBox="1"/>
          <p:nvPr/>
        </p:nvSpPr>
        <p:spPr>
          <a:xfrm>
            <a:off x="338181" y="1771164"/>
            <a:ext cx="8962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Overview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9A55A78-8335-C846-47C1-7FDBC325863E}"/>
              </a:ext>
            </a:extLst>
          </p:cNvPr>
          <p:cNvSpPr txBox="1"/>
          <p:nvPr/>
        </p:nvSpPr>
        <p:spPr>
          <a:xfrm>
            <a:off x="338181" y="2170532"/>
            <a:ext cx="1505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Expense &amp; Budget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31B3B4D-31F7-F215-2F44-D6D2083BA76B}"/>
              </a:ext>
            </a:extLst>
          </p:cNvPr>
          <p:cNvSpPr txBox="1"/>
          <p:nvPr/>
        </p:nvSpPr>
        <p:spPr>
          <a:xfrm>
            <a:off x="338178" y="2958216"/>
            <a:ext cx="1505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Forecast Analysis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6F8D0B9-ACBE-AAD9-62D7-435FC0BCB334}"/>
              </a:ext>
            </a:extLst>
          </p:cNvPr>
          <p:cNvSpPr txBox="1"/>
          <p:nvPr/>
        </p:nvSpPr>
        <p:spPr>
          <a:xfrm>
            <a:off x="338179" y="2564374"/>
            <a:ext cx="1741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Department &amp; Region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B283282-B527-B2BA-5453-CBC3D7C796EA}"/>
              </a:ext>
            </a:extLst>
          </p:cNvPr>
          <p:cNvSpPr txBox="1"/>
          <p:nvPr/>
        </p:nvSpPr>
        <p:spPr>
          <a:xfrm>
            <a:off x="338176" y="3745344"/>
            <a:ext cx="1063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5ECE1C2-62CD-77B6-E9DA-460AC7E2DC59}"/>
              </a:ext>
            </a:extLst>
          </p:cNvPr>
          <p:cNvSpPr txBox="1"/>
          <p:nvPr/>
        </p:nvSpPr>
        <p:spPr>
          <a:xfrm>
            <a:off x="338177" y="3351780"/>
            <a:ext cx="1063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Key Insights</a:t>
            </a:r>
          </a:p>
        </p:txBody>
      </p:sp>
      <p:pic>
        <p:nvPicPr>
          <p:cNvPr id="88" name="Graphic 87" descr="Home outline">
            <a:extLst>
              <a:ext uri="{FF2B5EF4-FFF2-40B4-BE49-F238E27FC236}">
                <a16:creationId xmlns:a16="http://schemas.microsoft.com/office/drawing/2014/main" id="{E9DC65C7-70A8-7BA4-CCFF-FB8565601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60" y="1268089"/>
            <a:ext cx="276999" cy="276999"/>
          </a:xfrm>
          <a:prstGeom prst="rect">
            <a:avLst/>
          </a:prstGeom>
        </p:spPr>
      </p:pic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E0B48307-ECF9-8DD1-810C-F9C80E7C7A2B}"/>
              </a:ext>
            </a:extLst>
          </p:cNvPr>
          <p:cNvSpPr/>
          <p:nvPr/>
        </p:nvSpPr>
        <p:spPr>
          <a:xfrm>
            <a:off x="88529" y="2910190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3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2" name="Graphic 91" descr="Document outline">
            <a:extLst>
              <a:ext uri="{FF2B5EF4-FFF2-40B4-BE49-F238E27FC236}">
                <a16:creationId xmlns:a16="http://schemas.microsoft.com/office/drawing/2014/main" id="{97EFF982-518A-3B4D-78EA-B2C64938EB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39" y="1734083"/>
            <a:ext cx="274320" cy="274320"/>
          </a:xfrm>
          <a:prstGeom prst="rect">
            <a:avLst/>
          </a:prstGeom>
        </p:spPr>
      </p:pic>
      <p:pic>
        <p:nvPicPr>
          <p:cNvPr id="94" name="Graphic 93" descr="Coins outline">
            <a:extLst>
              <a:ext uri="{FF2B5EF4-FFF2-40B4-BE49-F238E27FC236}">
                <a16:creationId xmlns:a16="http://schemas.microsoft.com/office/drawing/2014/main" id="{98E4BD25-8D51-B034-4844-2F8DC0B21E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839" y="2164300"/>
            <a:ext cx="274320" cy="274320"/>
          </a:xfrm>
          <a:prstGeom prst="rect">
            <a:avLst/>
          </a:prstGeom>
        </p:spPr>
      </p:pic>
      <p:pic>
        <p:nvPicPr>
          <p:cNvPr id="96" name="Graphic 95" descr="Cycle with people outline">
            <a:extLst>
              <a:ext uri="{FF2B5EF4-FFF2-40B4-BE49-F238E27FC236}">
                <a16:creationId xmlns:a16="http://schemas.microsoft.com/office/drawing/2014/main" id="{92F95E2B-09F0-C8E4-8878-A00BD52D92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839" y="2554353"/>
            <a:ext cx="274320" cy="274320"/>
          </a:xfrm>
          <a:prstGeom prst="rect">
            <a:avLst/>
          </a:prstGeom>
        </p:spPr>
      </p:pic>
      <p:pic>
        <p:nvPicPr>
          <p:cNvPr id="98" name="Graphic 97" descr="Upward trend outline">
            <a:extLst>
              <a:ext uri="{FF2B5EF4-FFF2-40B4-BE49-F238E27FC236}">
                <a16:creationId xmlns:a16="http://schemas.microsoft.com/office/drawing/2014/main" id="{C27A531B-BC1D-19BE-4A06-1414010FA0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839" y="2948301"/>
            <a:ext cx="274320" cy="274320"/>
          </a:xfrm>
          <a:prstGeom prst="rect">
            <a:avLst/>
          </a:prstGeom>
        </p:spPr>
      </p:pic>
      <p:pic>
        <p:nvPicPr>
          <p:cNvPr id="100" name="Graphic 99" descr="Lightbulb outline">
            <a:extLst>
              <a:ext uri="{FF2B5EF4-FFF2-40B4-BE49-F238E27FC236}">
                <a16:creationId xmlns:a16="http://schemas.microsoft.com/office/drawing/2014/main" id="{C7BF1920-DFB3-01ED-9F39-153DE6857B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839" y="3369395"/>
            <a:ext cx="274320" cy="274320"/>
          </a:xfrm>
          <a:prstGeom prst="rect">
            <a:avLst/>
          </a:prstGeom>
        </p:spPr>
      </p:pic>
      <p:pic>
        <p:nvPicPr>
          <p:cNvPr id="102" name="Graphic 101" descr="CheckList outline">
            <a:extLst>
              <a:ext uri="{FF2B5EF4-FFF2-40B4-BE49-F238E27FC236}">
                <a16:creationId xmlns:a16="http://schemas.microsoft.com/office/drawing/2014/main" id="{ADC5A9C1-E5CE-A6CA-0493-13A37B8E32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161" y="3746830"/>
            <a:ext cx="274320" cy="27432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6F7CC1FF-15A4-E07F-FC1B-55BB17DEB725}"/>
              </a:ext>
            </a:extLst>
          </p:cNvPr>
          <p:cNvSpPr txBox="1"/>
          <p:nvPr/>
        </p:nvSpPr>
        <p:spPr>
          <a:xfrm>
            <a:off x="0" y="6390532"/>
            <a:ext cx="30697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bg1">
                    <a:lumMod val="75000"/>
                  </a:schemeClr>
                </a:solidFill>
              </a:rPr>
              <a:t>Shouary Verma </a:t>
            </a:r>
          </a:p>
          <a:p>
            <a:r>
              <a:rPr lang="en-IN" sz="1100" dirty="0">
                <a:solidFill>
                  <a:schemeClr val="bg1">
                    <a:lumMod val="75000"/>
                  </a:schemeClr>
                </a:solidFill>
              </a:rPr>
              <a:t>Persevex Internship Project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74EDE43-05E5-707C-F324-9816A926CD96}"/>
              </a:ext>
            </a:extLst>
          </p:cNvPr>
          <p:cNvSpPr txBox="1"/>
          <p:nvPr/>
        </p:nvSpPr>
        <p:spPr>
          <a:xfrm>
            <a:off x="2215236" y="1109816"/>
            <a:ext cx="519256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6246EA"/>
                </a:solidFill>
              </a:rPr>
              <a:t>05 | FORECAST ANALYSIS</a:t>
            </a:r>
          </a:p>
          <a:p>
            <a:r>
              <a:rPr lang="en-IN" sz="3200" b="1" dirty="0"/>
              <a:t>Forecast </a:t>
            </a:r>
            <a:r>
              <a:rPr lang="en-IN" sz="3200" b="1" dirty="0">
                <a:solidFill>
                  <a:srgbClr val="6246EA"/>
                </a:solidFill>
              </a:rPr>
              <a:t>Analysis</a:t>
            </a:r>
          </a:p>
          <a:p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Compare reported actual expenses with the October Forecast scenario to identify monthly differences and financial trends.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C790F5-BAB9-9D09-922A-26A3F7C3B139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82000"/>
          </a:blip>
          <a:srcRect t="14905" r="20796"/>
          <a:stretch>
            <a:fillRect/>
          </a:stretch>
        </p:blipFill>
        <p:spPr>
          <a:xfrm>
            <a:off x="7122290" y="0"/>
            <a:ext cx="5069710" cy="2690966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104" name="Rectangle: Rounded Corners 103">
            <a:hlinkClick r:id="rId11" action="ppaction://hlinksldjump"/>
            <a:extLst>
              <a:ext uri="{FF2B5EF4-FFF2-40B4-BE49-F238E27FC236}">
                <a16:creationId xmlns:a16="http://schemas.microsoft.com/office/drawing/2014/main" id="{88CDB547-411D-063D-8F33-DB68F89684A6}"/>
              </a:ext>
            </a:extLst>
          </p:cNvPr>
          <p:cNvSpPr/>
          <p:nvPr/>
        </p:nvSpPr>
        <p:spPr>
          <a:xfrm>
            <a:off x="55831" y="1233092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hlinkClick r:id="rId12" action="ppaction://hlinksldjump"/>
            <a:extLst>
              <a:ext uri="{FF2B5EF4-FFF2-40B4-BE49-F238E27FC236}">
                <a16:creationId xmlns:a16="http://schemas.microsoft.com/office/drawing/2014/main" id="{811F0B01-0E29-EA17-257C-750A13D78525}"/>
              </a:ext>
            </a:extLst>
          </p:cNvPr>
          <p:cNvSpPr/>
          <p:nvPr/>
        </p:nvSpPr>
        <p:spPr>
          <a:xfrm>
            <a:off x="107160" y="1708824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Rectangle: Rounded Corners 21">
            <a:hlinkClick r:id="rId13" action="ppaction://hlinksldjump"/>
            <a:extLst>
              <a:ext uri="{FF2B5EF4-FFF2-40B4-BE49-F238E27FC236}">
                <a16:creationId xmlns:a16="http://schemas.microsoft.com/office/drawing/2014/main" id="{E1E154C0-0985-2CE2-FEC9-3AED678DDB8C}"/>
              </a:ext>
            </a:extLst>
          </p:cNvPr>
          <p:cNvSpPr/>
          <p:nvPr/>
        </p:nvSpPr>
        <p:spPr>
          <a:xfrm>
            <a:off x="88529" y="2115925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hlinkClick r:id="rId14" action="ppaction://hlinksldjump"/>
            <a:extLst>
              <a:ext uri="{FF2B5EF4-FFF2-40B4-BE49-F238E27FC236}">
                <a16:creationId xmlns:a16="http://schemas.microsoft.com/office/drawing/2014/main" id="{66A321D1-65BA-1C93-9FA7-EC74B8441F8D}"/>
              </a:ext>
            </a:extLst>
          </p:cNvPr>
          <p:cNvSpPr/>
          <p:nvPr/>
        </p:nvSpPr>
        <p:spPr>
          <a:xfrm>
            <a:off x="141211" y="2509251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261C7D3-426C-60A4-B11E-6A16157E61A8}"/>
              </a:ext>
            </a:extLst>
          </p:cNvPr>
          <p:cNvGrpSpPr/>
          <p:nvPr/>
        </p:nvGrpSpPr>
        <p:grpSpPr>
          <a:xfrm>
            <a:off x="2215236" y="2841373"/>
            <a:ext cx="2377440" cy="1422760"/>
            <a:chOff x="2215236" y="2841373"/>
            <a:chExt cx="2620924" cy="14227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57A73BE-8A1D-DAF4-4FBA-D8C6E322AF11}"/>
                </a:ext>
              </a:extLst>
            </p:cNvPr>
            <p:cNvSpPr/>
            <p:nvPr/>
          </p:nvSpPr>
          <p:spPr>
            <a:xfrm>
              <a:off x="2215236" y="2841373"/>
              <a:ext cx="2620924" cy="111079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E7EA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D0CF040-DAF3-D210-0A47-72E5DE258696}"/>
                </a:ext>
              </a:extLst>
            </p:cNvPr>
            <p:cNvSpPr txBox="1"/>
            <p:nvPr/>
          </p:nvSpPr>
          <p:spPr>
            <a:xfrm>
              <a:off x="2314035" y="2879138"/>
              <a:ext cx="2390043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Actual Expenses</a:t>
              </a:r>
            </a:p>
            <a:p>
              <a:endParaRPr lang="en-US" dirty="0"/>
            </a:p>
            <a:p>
              <a:r>
                <a:rPr lang="en-US" dirty="0">
                  <a:solidFill>
                    <a:srgbClr val="6246EA"/>
                  </a:solidFill>
                </a:rPr>
                <a:t>$626.72M</a:t>
              </a:r>
            </a:p>
            <a:p>
              <a:pPr>
                <a:lnSpc>
                  <a:spcPct val="100000"/>
                </a:lnSpc>
              </a:pPr>
              <a:r>
                <a:rPr lang="en-IN" sz="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July–December 2012</a:t>
              </a:r>
              <a:endParaRPr lang="en-US" sz="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endParaRPr lang="en-IN" sz="2400" dirty="0">
                <a:solidFill>
                  <a:srgbClr val="6246EA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C235184-B350-BB32-13F5-A91DAB032595}"/>
              </a:ext>
            </a:extLst>
          </p:cNvPr>
          <p:cNvGrpSpPr/>
          <p:nvPr/>
        </p:nvGrpSpPr>
        <p:grpSpPr>
          <a:xfrm>
            <a:off x="4713280" y="2841373"/>
            <a:ext cx="2377440" cy="1110790"/>
            <a:chOff x="2215236" y="2841373"/>
            <a:chExt cx="2620924" cy="11107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3A6EB7D6-367C-DC8F-E9BB-37F9710132B0}"/>
                </a:ext>
              </a:extLst>
            </p:cNvPr>
            <p:cNvSpPr/>
            <p:nvPr/>
          </p:nvSpPr>
          <p:spPr>
            <a:xfrm>
              <a:off x="2215236" y="2841373"/>
              <a:ext cx="2620924" cy="111079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E7EA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D4263C6-9132-078C-8C07-B056EE423CF8}"/>
                </a:ext>
              </a:extLst>
            </p:cNvPr>
            <p:cNvSpPr txBox="1"/>
            <p:nvPr/>
          </p:nvSpPr>
          <p:spPr>
            <a:xfrm>
              <a:off x="2301030" y="2904325"/>
              <a:ext cx="2503058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December Forecast</a:t>
              </a:r>
            </a:p>
            <a:p>
              <a:endPara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r>
                <a:rPr lang="en-US" dirty="0">
                  <a:solidFill>
                    <a:srgbClr val="6246EA"/>
                  </a:solidFill>
                </a:rPr>
                <a:t>$140.66M</a:t>
              </a:r>
            </a:p>
            <a:p>
              <a:pPr>
                <a:lnSpc>
                  <a:spcPct val="100000"/>
                </a:lnSpc>
              </a:pPr>
              <a:r>
                <a:rPr lang="en-IN" sz="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October Forecast scenario</a:t>
              </a:r>
              <a:endParaRPr lang="en-IN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5D46261-7D73-985C-A6B1-2BBB66D5520A}"/>
              </a:ext>
            </a:extLst>
          </p:cNvPr>
          <p:cNvGrpSpPr/>
          <p:nvPr/>
        </p:nvGrpSpPr>
        <p:grpSpPr>
          <a:xfrm>
            <a:off x="7213239" y="2845814"/>
            <a:ext cx="2377440" cy="1110790"/>
            <a:chOff x="2215236" y="2841373"/>
            <a:chExt cx="2620924" cy="11107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16647F1F-F60B-B38D-214E-8F23319FB7DE}"/>
                </a:ext>
              </a:extLst>
            </p:cNvPr>
            <p:cNvSpPr/>
            <p:nvPr/>
          </p:nvSpPr>
          <p:spPr>
            <a:xfrm>
              <a:off x="2215236" y="2841373"/>
              <a:ext cx="2620924" cy="111079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E7EA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F6473C2-210A-4310-A527-245B3A0DCF1A}"/>
                </a:ext>
              </a:extLst>
            </p:cNvPr>
            <p:cNvSpPr txBox="1"/>
            <p:nvPr/>
          </p:nvSpPr>
          <p:spPr>
            <a:xfrm>
              <a:off x="2215236" y="2904325"/>
              <a:ext cx="2588853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December Variance</a:t>
              </a:r>
            </a:p>
            <a:p>
              <a:endPara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en-US" dirty="0">
                  <a:solidFill>
                    <a:srgbClr val="33CC33"/>
                  </a:solidFill>
                </a:rPr>
                <a:t>-$105.61M</a:t>
              </a:r>
            </a:p>
            <a:p>
              <a:pPr>
                <a:lnSpc>
                  <a:spcPct val="100000"/>
                </a:lnSpc>
              </a:pPr>
              <a:r>
                <a:rPr lang="en-IN" sz="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Actual minus forecast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E08863D-280D-CDAF-DA39-6BD715A9C48F}"/>
              </a:ext>
            </a:extLst>
          </p:cNvPr>
          <p:cNvGrpSpPr/>
          <p:nvPr/>
        </p:nvGrpSpPr>
        <p:grpSpPr>
          <a:xfrm>
            <a:off x="9707553" y="2841372"/>
            <a:ext cx="2583109" cy="1110790"/>
            <a:chOff x="2215236" y="2841373"/>
            <a:chExt cx="2847657" cy="11107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05C2E07-A6B7-2332-B817-8064B3CACA1A}"/>
                </a:ext>
              </a:extLst>
            </p:cNvPr>
            <p:cNvSpPr/>
            <p:nvPr/>
          </p:nvSpPr>
          <p:spPr>
            <a:xfrm>
              <a:off x="2215236" y="2841373"/>
              <a:ext cx="2620924" cy="111079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E7EA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D64CBE8-A8BE-E7E3-1492-D9994D2064FC}"/>
                </a:ext>
              </a:extLst>
            </p:cNvPr>
            <p:cNvSpPr txBox="1"/>
            <p:nvPr/>
          </p:nvSpPr>
          <p:spPr>
            <a:xfrm>
              <a:off x="2215236" y="2904325"/>
              <a:ext cx="2847657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December Key Overlap</a:t>
              </a:r>
            </a:p>
            <a:p>
              <a:endPara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en-US" dirty="0">
                  <a:solidFill>
                    <a:srgbClr val="6246EA"/>
                  </a:solidFill>
                </a:rPr>
                <a:t>59.4%</a:t>
              </a:r>
            </a:p>
            <a:p>
              <a:pPr>
                <a:lnSpc>
                  <a:spcPct val="100000"/>
                </a:lnSpc>
              </a:pPr>
              <a:r>
                <a:rPr lang="en-IN" sz="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Forecast keys also in actual</a:t>
              </a:r>
            </a:p>
          </p:txBody>
        </p:sp>
      </p:grpSp>
      <p:pic>
        <p:nvPicPr>
          <p:cNvPr id="30" name="Graphic 29" descr="Bar chart with solid fill">
            <a:extLst>
              <a:ext uri="{FF2B5EF4-FFF2-40B4-BE49-F238E27FC236}">
                <a16:creationId xmlns:a16="http://schemas.microsoft.com/office/drawing/2014/main" id="{CB838CA7-0182-AACA-EBAA-6F3A97AC56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41661" y="3401085"/>
            <a:ext cx="365760" cy="365760"/>
          </a:xfrm>
          <a:prstGeom prst="rect">
            <a:avLst/>
          </a:prstGeom>
        </p:spPr>
      </p:pic>
      <p:pic>
        <p:nvPicPr>
          <p:cNvPr id="32" name="Graphic 31" descr="Downward trend graph with solid fill">
            <a:extLst>
              <a:ext uri="{FF2B5EF4-FFF2-40B4-BE49-F238E27FC236}">
                <a16:creationId xmlns:a16="http://schemas.microsoft.com/office/drawing/2014/main" id="{175F79A4-5288-4936-4B3B-8D328E4625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056585" y="3396120"/>
            <a:ext cx="365760" cy="365760"/>
          </a:xfrm>
          <a:prstGeom prst="rect">
            <a:avLst/>
          </a:prstGeom>
        </p:spPr>
      </p:pic>
      <p:pic>
        <p:nvPicPr>
          <p:cNvPr id="34" name="Graphic 33" descr="Database with solid fill">
            <a:extLst>
              <a:ext uri="{FF2B5EF4-FFF2-40B4-BE49-F238E27FC236}">
                <a16:creationId xmlns:a16="http://schemas.microsoft.com/office/drawing/2014/main" id="{CFA573FC-9672-9B4B-13FC-5BC21657DE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439664" y="3396120"/>
            <a:ext cx="365760" cy="365760"/>
          </a:xfrm>
          <a:prstGeom prst="rect">
            <a:avLst/>
          </a:prstGeom>
        </p:spPr>
      </p:pic>
      <p:pic>
        <p:nvPicPr>
          <p:cNvPr id="36" name="Graphic 35" descr="Wallet with solid fill">
            <a:extLst>
              <a:ext uri="{FF2B5EF4-FFF2-40B4-BE49-F238E27FC236}">
                <a16:creationId xmlns:a16="http://schemas.microsoft.com/office/drawing/2014/main" id="{4A869041-9B1F-8F9E-6D67-8D63DB1E83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952634" y="3396120"/>
            <a:ext cx="365760" cy="365760"/>
          </a:xfrm>
          <a:prstGeom prst="rect">
            <a:avLst/>
          </a:prstGeom>
        </p:spPr>
      </p:pic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D24EBEE-AE91-9BBC-36A2-782116A2F611}"/>
              </a:ext>
            </a:extLst>
          </p:cNvPr>
          <p:cNvSpPr/>
          <p:nvPr/>
        </p:nvSpPr>
        <p:spPr>
          <a:xfrm>
            <a:off x="2304857" y="4054821"/>
            <a:ext cx="4209457" cy="2618908"/>
          </a:xfrm>
          <a:prstGeom prst="roundRect">
            <a:avLst>
              <a:gd name="adj" fmla="val 821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2242042D-DD3A-17D6-49B3-B62D7C897F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1270114"/>
              </p:ext>
            </p:extLst>
          </p:nvPr>
        </p:nvGraphicFramePr>
        <p:xfrm>
          <a:off x="2304856" y="4054821"/>
          <a:ext cx="4209457" cy="25499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1BF96BB-FE3A-6546-293F-D1AD584E2139}"/>
              </a:ext>
            </a:extLst>
          </p:cNvPr>
          <p:cNvSpPr/>
          <p:nvPr/>
        </p:nvSpPr>
        <p:spPr>
          <a:xfrm>
            <a:off x="6666714" y="4074277"/>
            <a:ext cx="5418279" cy="2618908"/>
          </a:xfrm>
          <a:prstGeom prst="roundRect">
            <a:avLst>
              <a:gd name="adj" fmla="val 821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9A9CEB98-065B-A301-04D0-43232F75B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84270"/>
              </p:ext>
            </p:extLst>
          </p:nvPr>
        </p:nvGraphicFramePr>
        <p:xfrm>
          <a:off x="6807420" y="4429415"/>
          <a:ext cx="5159028" cy="2198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860">
                  <a:extLst>
                    <a:ext uri="{9D8B030D-6E8A-4147-A177-3AD203B41FA5}">
                      <a16:colId xmlns:a16="http://schemas.microsoft.com/office/drawing/2014/main" val="2105100288"/>
                    </a:ext>
                  </a:extLst>
                </a:gridCol>
                <a:gridCol w="1050654">
                  <a:extLst>
                    <a:ext uri="{9D8B030D-6E8A-4147-A177-3AD203B41FA5}">
                      <a16:colId xmlns:a16="http://schemas.microsoft.com/office/drawing/2014/main" val="4071547666"/>
                    </a:ext>
                  </a:extLst>
                </a:gridCol>
                <a:gridCol w="1289757">
                  <a:extLst>
                    <a:ext uri="{9D8B030D-6E8A-4147-A177-3AD203B41FA5}">
                      <a16:colId xmlns:a16="http://schemas.microsoft.com/office/drawing/2014/main" val="3731968632"/>
                    </a:ext>
                  </a:extLst>
                </a:gridCol>
                <a:gridCol w="1289757">
                  <a:extLst>
                    <a:ext uri="{9D8B030D-6E8A-4147-A177-3AD203B41FA5}">
                      <a16:colId xmlns:a16="http://schemas.microsoft.com/office/drawing/2014/main" val="2703569121"/>
                    </a:ext>
                  </a:extLst>
                </a:gridCol>
              </a:tblGrid>
              <a:tr h="416659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Expense Category</a:t>
                      </a:r>
                      <a:endParaRPr lang="en-IN" sz="11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Actual ($M)</a:t>
                      </a:r>
                      <a:endParaRPr lang="en-IN" sz="11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Forecast ($M)</a:t>
                      </a:r>
                      <a:endParaRPr lang="en-IN" sz="11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Variance ($M)</a:t>
                      </a:r>
                    </a:p>
                    <a:p>
                      <a:pPr algn="l"/>
                      <a:endParaRPr lang="en-IN" sz="11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185124"/>
                  </a:ext>
                </a:extLst>
              </a:tr>
              <a:tr h="353730">
                <a:tc>
                  <a:txBody>
                    <a:bodyPr/>
                    <a:lstStyle/>
                    <a:p>
                      <a:r>
                        <a:rPr lang="en-IN" sz="900" dirty="0">
                          <a:solidFill>
                            <a:srgbClr val="25284A"/>
                          </a:solidFill>
                        </a:rPr>
                        <a:t>Payroll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>
                          <a:solidFill>
                            <a:srgbClr val="16B7A4"/>
                          </a:solidFill>
                        </a:rPr>
                        <a:t>411.99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>
                          <a:solidFill>
                            <a:srgbClr val="16B7A4"/>
                          </a:solidFill>
                        </a:rPr>
                        <a:t>479.34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>
                          <a:solidFill>
                            <a:srgbClr val="F0838A"/>
                          </a:solidFill>
                        </a:rPr>
                        <a:t>-67.36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646383"/>
                  </a:ext>
                </a:extLst>
              </a:tr>
              <a:tr h="353730">
                <a:tc>
                  <a:txBody>
                    <a:bodyPr/>
                    <a:lstStyle/>
                    <a:p>
                      <a:r>
                        <a:rPr lang="en-IN" sz="900" dirty="0">
                          <a:solidFill>
                            <a:srgbClr val="25284A"/>
                          </a:solidFill>
                        </a:rPr>
                        <a:t>Other People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>
                          <a:solidFill>
                            <a:srgbClr val="16B7A4"/>
                          </a:solidFill>
                        </a:rPr>
                        <a:t>39.23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>
                          <a:solidFill>
                            <a:srgbClr val="16B7A4"/>
                          </a:solidFill>
                        </a:rPr>
                        <a:t>93.36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>
                          <a:solidFill>
                            <a:srgbClr val="F0838A"/>
                          </a:solidFill>
                        </a:rPr>
                        <a:t>-54.13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779201"/>
                  </a:ext>
                </a:extLst>
              </a:tr>
              <a:tr h="357136">
                <a:tc>
                  <a:txBody>
                    <a:bodyPr/>
                    <a:lstStyle/>
                    <a:p>
                      <a:r>
                        <a:rPr lang="en-IN" sz="900" dirty="0">
                          <a:solidFill>
                            <a:srgbClr val="25284A"/>
                          </a:solidFill>
                        </a:rPr>
                        <a:t>Outsourced Resources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>
                          <a:solidFill>
                            <a:srgbClr val="16B7A4"/>
                          </a:solidFill>
                        </a:rPr>
                        <a:t>176.67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>
                          <a:solidFill>
                            <a:srgbClr val="16B7A4"/>
                          </a:solidFill>
                        </a:rPr>
                        <a:t>209.40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>
                          <a:solidFill>
                            <a:srgbClr val="F0838A"/>
                          </a:solidFill>
                        </a:rPr>
                        <a:t>-32.73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6469378"/>
                  </a:ext>
                </a:extLst>
              </a:tr>
              <a:tr h="353730">
                <a:tc>
                  <a:txBody>
                    <a:bodyPr/>
                    <a:lstStyle/>
                    <a:p>
                      <a:r>
                        <a:rPr lang="en-IN" sz="900" dirty="0">
                          <a:solidFill>
                            <a:srgbClr val="25284A"/>
                          </a:solidFill>
                        </a:rPr>
                        <a:t>Other Expenses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>
                          <a:solidFill>
                            <a:srgbClr val="F0838A"/>
                          </a:solidFill>
                        </a:rPr>
                        <a:t>-32.64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>
                          <a:solidFill>
                            <a:srgbClr val="F0838A"/>
                          </a:solidFill>
                        </a:rPr>
                        <a:t>-18.23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>
                          <a:solidFill>
                            <a:srgbClr val="F0838A"/>
                          </a:solidFill>
                        </a:rPr>
                        <a:t>-14.41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324276"/>
                  </a:ext>
                </a:extLst>
              </a:tr>
              <a:tr h="353730">
                <a:tc>
                  <a:txBody>
                    <a:bodyPr/>
                    <a:lstStyle/>
                    <a:p>
                      <a:r>
                        <a:rPr lang="en-IN" sz="900" dirty="0">
                          <a:solidFill>
                            <a:srgbClr val="25284A"/>
                          </a:solidFill>
                        </a:rPr>
                        <a:t>Labs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>
                          <a:solidFill>
                            <a:srgbClr val="F0838A"/>
                          </a:solidFill>
                        </a:rPr>
                        <a:t>-9.56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>
                          <a:solidFill>
                            <a:srgbClr val="F0838A"/>
                          </a:solidFill>
                        </a:rPr>
                        <a:t>-23.05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>
                          <a:solidFill>
                            <a:srgbClr val="16B7A4"/>
                          </a:solidFill>
                        </a:rPr>
                        <a:t>13.49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039120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9D946C36-C6AD-A3C8-A84F-0E030915E428}"/>
              </a:ext>
            </a:extLst>
          </p:cNvPr>
          <p:cNvSpPr txBox="1"/>
          <p:nvPr/>
        </p:nvSpPr>
        <p:spPr>
          <a:xfrm>
            <a:off x="6761771" y="4076328"/>
            <a:ext cx="33263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Forecast Variance by Category</a:t>
            </a:r>
            <a:endParaRPr lang="en-IN" sz="160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703A899-D9A9-61AC-EBFB-8129FD8B7CB4}"/>
              </a:ext>
            </a:extLst>
          </p:cNvPr>
          <p:cNvSpPr/>
          <p:nvPr/>
        </p:nvSpPr>
        <p:spPr>
          <a:xfrm>
            <a:off x="6807420" y="4414882"/>
            <a:ext cx="4998004" cy="318609"/>
          </a:xfrm>
          <a:prstGeom prst="roundRect">
            <a:avLst/>
          </a:prstGeom>
          <a:solidFill>
            <a:srgbClr val="16B7A4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146B63A-694F-8CD9-E471-00C22A995875}"/>
              </a:ext>
            </a:extLst>
          </p:cNvPr>
          <p:cNvCxnSpPr/>
          <p:nvPr/>
        </p:nvCxnSpPr>
        <p:spPr>
          <a:xfrm>
            <a:off x="6858000" y="5120640"/>
            <a:ext cx="4998004" cy="0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1F81B18-9123-29EE-C4C1-17FF522FBE88}"/>
              </a:ext>
            </a:extLst>
          </p:cNvPr>
          <p:cNvCxnSpPr/>
          <p:nvPr/>
        </p:nvCxnSpPr>
        <p:spPr>
          <a:xfrm>
            <a:off x="6858000" y="5486400"/>
            <a:ext cx="4998004" cy="0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7298300-E9E3-332A-A8B1-7782C363CC43}"/>
              </a:ext>
            </a:extLst>
          </p:cNvPr>
          <p:cNvCxnSpPr/>
          <p:nvPr/>
        </p:nvCxnSpPr>
        <p:spPr>
          <a:xfrm>
            <a:off x="6858000" y="5852160"/>
            <a:ext cx="4998004" cy="0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D131918-8570-D495-169E-842EC947DCF1}"/>
              </a:ext>
            </a:extLst>
          </p:cNvPr>
          <p:cNvCxnSpPr/>
          <p:nvPr/>
        </p:nvCxnSpPr>
        <p:spPr>
          <a:xfrm>
            <a:off x="6858000" y="6217920"/>
            <a:ext cx="4998004" cy="0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A6BE2A5-8E55-B7E1-1711-688BF135B3A7}"/>
              </a:ext>
            </a:extLst>
          </p:cNvPr>
          <p:cNvCxnSpPr/>
          <p:nvPr/>
        </p:nvCxnSpPr>
        <p:spPr>
          <a:xfrm>
            <a:off x="6858000" y="6583680"/>
            <a:ext cx="4998004" cy="0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hlinkClick r:id="rId20" action="ppaction://hlinksldjump"/>
            <a:extLst>
              <a:ext uri="{FF2B5EF4-FFF2-40B4-BE49-F238E27FC236}">
                <a16:creationId xmlns:a16="http://schemas.microsoft.com/office/drawing/2014/main" id="{AB785640-744D-B05C-AF48-688C4344EAE0}"/>
              </a:ext>
            </a:extLst>
          </p:cNvPr>
          <p:cNvSpPr/>
          <p:nvPr/>
        </p:nvSpPr>
        <p:spPr>
          <a:xfrm>
            <a:off x="79932" y="3312655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6" name="Rectangle: Rounded Corners 55">
            <a:hlinkClick r:id="rId21" action="ppaction://hlinksldjump"/>
            <a:extLst>
              <a:ext uri="{FF2B5EF4-FFF2-40B4-BE49-F238E27FC236}">
                <a16:creationId xmlns:a16="http://schemas.microsoft.com/office/drawing/2014/main" id="{B326E86C-4C2D-ADCE-8102-18FF48047AB5}"/>
              </a:ext>
            </a:extLst>
          </p:cNvPr>
          <p:cNvSpPr/>
          <p:nvPr/>
        </p:nvSpPr>
        <p:spPr>
          <a:xfrm>
            <a:off x="67378" y="3723827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8552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77D589-5452-2A58-4385-7F030E917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53778B-495C-6BC3-6A49-E8A09140C19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2000"/>
          </a:blip>
          <a:srcRect t="14905" r="21480"/>
          <a:stretch>
            <a:fillRect/>
          </a:stretch>
        </p:blipFill>
        <p:spPr>
          <a:xfrm>
            <a:off x="7122290" y="0"/>
            <a:ext cx="5025950" cy="2690966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DE6394BF-56FC-C111-BEB7-D5C20F76C199}"/>
              </a:ext>
            </a:extLst>
          </p:cNvPr>
          <p:cNvSpPr/>
          <p:nvPr/>
        </p:nvSpPr>
        <p:spPr>
          <a:xfrm>
            <a:off x="2286456" y="5433554"/>
            <a:ext cx="9632725" cy="1300992"/>
          </a:xfrm>
          <a:prstGeom prst="roundRect">
            <a:avLst/>
          </a:prstGeom>
          <a:solidFill>
            <a:srgbClr val="11184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3423A16-5FEC-A473-A281-4E0ABF974CD8}"/>
              </a:ext>
            </a:extLst>
          </p:cNvPr>
          <p:cNvSpPr/>
          <p:nvPr/>
        </p:nvSpPr>
        <p:spPr>
          <a:xfrm>
            <a:off x="-446919" y="-626970"/>
            <a:ext cx="5072743" cy="5108113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B601CF9-3573-61B9-1ACE-AABA272E3989}"/>
              </a:ext>
            </a:extLst>
          </p:cNvPr>
          <p:cNvSpPr/>
          <p:nvPr/>
        </p:nvSpPr>
        <p:spPr>
          <a:xfrm>
            <a:off x="-1" y="0"/>
            <a:ext cx="2057400" cy="6858000"/>
          </a:xfrm>
          <a:prstGeom prst="rect">
            <a:avLst/>
          </a:prstGeom>
          <a:solidFill>
            <a:srgbClr val="1018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C0307663-A427-4FA7-7CC8-69BBE0D9D6D6}"/>
              </a:ext>
            </a:extLst>
          </p:cNvPr>
          <p:cNvSpPr/>
          <p:nvPr/>
        </p:nvSpPr>
        <p:spPr>
          <a:xfrm>
            <a:off x="2802636" y="-2389129"/>
            <a:ext cx="4572000" cy="4526155"/>
          </a:xfrm>
          <a:prstGeom prst="ellipse">
            <a:avLst/>
          </a:prstGeom>
          <a:solidFill>
            <a:srgbClr val="6246EA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386EA24-EE34-C65C-7731-F4CCBF7FD684}"/>
              </a:ext>
            </a:extLst>
          </p:cNvPr>
          <p:cNvSpPr txBox="1"/>
          <p:nvPr/>
        </p:nvSpPr>
        <p:spPr>
          <a:xfrm>
            <a:off x="-1" y="141514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FinInsight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E04CE0D-9C0D-234A-F493-423E90C5B603}"/>
              </a:ext>
            </a:extLst>
          </p:cNvPr>
          <p:cNvSpPr txBox="1"/>
          <p:nvPr/>
        </p:nvSpPr>
        <p:spPr>
          <a:xfrm>
            <a:off x="354511" y="1290152"/>
            <a:ext cx="1578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Home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F148146-0CDC-F2ED-244D-0AE07242C3EA}"/>
              </a:ext>
            </a:extLst>
          </p:cNvPr>
          <p:cNvSpPr txBox="1"/>
          <p:nvPr/>
        </p:nvSpPr>
        <p:spPr>
          <a:xfrm>
            <a:off x="338181" y="1771164"/>
            <a:ext cx="8962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Overview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7E2B76C-1D00-A841-B95D-2DB371021924}"/>
              </a:ext>
            </a:extLst>
          </p:cNvPr>
          <p:cNvSpPr txBox="1"/>
          <p:nvPr/>
        </p:nvSpPr>
        <p:spPr>
          <a:xfrm>
            <a:off x="338181" y="2170532"/>
            <a:ext cx="1505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Expense &amp; Budget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2BF181F-AA75-984F-1BE4-F6108F39ACFA}"/>
              </a:ext>
            </a:extLst>
          </p:cNvPr>
          <p:cNvSpPr txBox="1"/>
          <p:nvPr/>
        </p:nvSpPr>
        <p:spPr>
          <a:xfrm>
            <a:off x="338178" y="2958216"/>
            <a:ext cx="1505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Forecast Analysis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BAB7FEC-0C70-EC66-A9EA-907E95710909}"/>
              </a:ext>
            </a:extLst>
          </p:cNvPr>
          <p:cNvSpPr txBox="1"/>
          <p:nvPr/>
        </p:nvSpPr>
        <p:spPr>
          <a:xfrm>
            <a:off x="338179" y="2564374"/>
            <a:ext cx="1741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Department &amp; Region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DD9A085-F36D-FA4A-1DA5-809537AECE08}"/>
              </a:ext>
            </a:extLst>
          </p:cNvPr>
          <p:cNvSpPr txBox="1"/>
          <p:nvPr/>
        </p:nvSpPr>
        <p:spPr>
          <a:xfrm>
            <a:off x="338176" y="3745344"/>
            <a:ext cx="1063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C589396-FA3D-09F9-7E02-5F946F4FA42C}"/>
              </a:ext>
            </a:extLst>
          </p:cNvPr>
          <p:cNvSpPr txBox="1"/>
          <p:nvPr/>
        </p:nvSpPr>
        <p:spPr>
          <a:xfrm>
            <a:off x="338177" y="3351780"/>
            <a:ext cx="1063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Key Insights</a:t>
            </a:r>
          </a:p>
        </p:txBody>
      </p:sp>
      <p:pic>
        <p:nvPicPr>
          <p:cNvPr id="88" name="Graphic 87" descr="Home outline">
            <a:extLst>
              <a:ext uri="{FF2B5EF4-FFF2-40B4-BE49-F238E27FC236}">
                <a16:creationId xmlns:a16="http://schemas.microsoft.com/office/drawing/2014/main" id="{2982B320-F0BE-F1BE-D641-177D3D8D38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60" y="1268089"/>
            <a:ext cx="276999" cy="276999"/>
          </a:xfrm>
          <a:prstGeom prst="rect">
            <a:avLst/>
          </a:prstGeom>
        </p:spPr>
      </p:pic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E8A95108-D431-D45E-3787-EDCF8EE8288F}"/>
              </a:ext>
            </a:extLst>
          </p:cNvPr>
          <p:cNvSpPr/>
          <p:nvPr/>
        </p:nvSpPr>
        <p:spPr>
          <a:xfrm>
            <a:off x="88529" y="3296270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3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2" name="Graphic 91" descr="Document outline">
            <a:extLst>
              <a:ext uri="{FF2B5EF4-FFF2-40B4-BE49-F238E27FC236}">
                <a16:creationId xmlns:a16="http://schemas.microsoft.com/office/drawing/2014/main" id="{E515E064-40BE-E27E-F3AE-62A2593A04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839" y="1734083"/>
            <a:ext cx="274320" cy="274320"/>
          </a:xfrm>
          <a:prstGeom prst="rect">
            <a:avLst/>
          </a:prstGeom>
        </p:spPr>
      </p:pic>
      <p:pic>
        <p:nvPicPr>
          <p:cNvPr id="94" name="Graphic 93" descr="Coins outline">
            <a:extLst>
              <a:ext uri="{FF2B5EF4-FFF2-40B4-BE49-F238E27FC236}">
                <a16:creationId xmlns:a16="http://schemas.microsoft.com/office/drawing/2014/main" id="{C7548230-30CB-E0AE-0D37-A1FF28C491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839" y="2164300"/>
            <a:ext cx="274320" cy="274320"/>
          </a:xfrm>
          <a:prstGeom prst="rect">
            <a:avLst/>
          </a:prstGeom>
        </p:spPr>
      </p:pic>
      <p:pic>
        <p:nvPicPr>
          <p:cNvPr id="96" name="Graphic 95" descr="Cycle with people outline">
            <a:extLst>
              <a:ext uri="{FF2B5EF4-FFF2-40B4-BE49-F238E27FC236}">
                <a16:creationId xmlns:a16="http://schemas.microsoft.com/office/drawing/2014/main" id="{4843BF13-4300-EB76-F8ED-5DAA8011BD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839" y="2554353"/>
            <a:ext cx="274320" cy="274320"/>
          </a:xfrm>
          <a:prstGeom prst="rect">
            <a:avLst/>
          </a:prstGeom>
        </p:spPr>
      </p:pic>
      <p:pic>
        <p:nvPicPr>
          <p:cNvPr id="98" name="Graphic 97" descr="Upward trend outline">
            <a:extLst>
              <a:ext uri="{FF2B5EF4-FFF2-40B4-BE49-F238E27FC236}">
                <a16:creationId xmlns:a16="http://schemas.microsoft.com/office/drawing/2014/main" id="{D881AB85-060F-8F49-F0A0-076F15524D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839" y="2948301"/>
            <a:ext cx="274320" cy="274320"/>
          </a:xfrm>
          <a:prstGeom prst="rect">
            <a:avLst/>
          </a:prstGeom>
        </p:spPr>
      </p:pic>
      <p:pic>
        <p:nvPicPr>
          <p:cNvPr id="100" name="Graphic 99" descr="Lightbulb outline">
            <a:extLst>
              <a:ext uri="{FF2B5EF4-FFF2-40B4-BE49-F238E27FC236}">
                <a16:creationId xmlns:a16="http://schemas.microsoft.com/office/drawing/2014/main" id="{6A3705FC-A3EF-94D4-F775-292D1CAF86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839" y="3369395"/>
            <a:ext cx="274320" cy="274320"/>
          </a:xfrm>
          <a:prstGeom prst="rect">
            <a:avLst/>
          </a:prstGeom>
        </p:spPr>
      </p:pic>
      <p:pic>
        <p:nvPicPr>
          <p:cNvPr id="102" name="Graphic 101" descr="CheckList outline">
            <a:extLst>
              <a:ext uri="{FF2B5EF4-FFF2-40B4-BE49-F238E27FC236}">
                <a16:creationId xmlns:a16="http://schemas.microsoft.com/office/drawing/2014/main" id="{4C488D6E-1FEE-9B2A-EEC9-2B27EB9658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161" y="3746830"/>
            <a:ext cx="274320" cy="27432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C8837088-95C0-68E4-42B6-0A044CD08348}"/>
              </a:ext>
            </a:extLst>
          </p:cNvPr>
          <p:cNvSpPr txBox="1"/>
          <p:nvPr/>
        </p:nvSpPr>
        <p:spPr>
          <a:xfrm>
            <a:off x="0" y="6390532"/>
            <a:ext cx="30697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bg1">
                    <a:lumMod val="75000"/>
                  </a:schemeClr>
                </a:solidFill>
              </a:rPr>
              <a:t>Shouary Verma </a:t>
            </a:r>
          </a:p>
          <a:p>
            <a:r>
              <a:rPr lang="en-IN" sz="1100" dirty="0">
                <a:solidFill>
                  <a:schemeClr val="bg1">
                    <a:lumMod val="75000"/>
                  </a:schemeClr>
                </a:solidFill>
              </a:rPr>
              <a:t>Persevex Internship Project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9F7EC0A-2FD2-55CC-D40C-E24A6896AD0F}"/>
              </a:ext>
            </a:extLst>
          </p:cNvPr>
          <p:cNvSpPr txBox="1"/>
          <p:nvPr/>
        </p:nvSpPr>
        <p:spPr>
          <a:xfrm>
            <a:off x="2215236" y="1109816"/>
            <a:ext cx="5192561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6246EA"/>
                </a:solidFill>
              </a:rPr>
              <a:t>06 | KEY INSIGHTS</a:t>
            </a:r>
          </a:p>
          <a:p>
            <a:r>
              <a:rPr lang="en-IN" sz="3200" b="1" dirty="0"/>
              <a:t>Key Insights &amp; </a:t>
            </a:r>
            <a:r>
              <a:rPr lang="en-IN" sz="3200" b="1" dirty="0">
                <a:solidFill>
                  <a:srgbClr val="6246EA"/>
                </a:solidFill>
              </a:rPr>
              <a:t>Recommendations</a:t>
            </a:r>
          </a:p>
          <a:p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Turning financial analysis into actionable business recommendations.</a:t>
            </a:r>
          </a:p>
        </p:txBody>
      </p:sp>
      <p:sp>
        <p:nvSpPr>
          <p:cNvPr id="104" name="Rectangle: Rounded Corners 103">
            <a:hlinkClick r:id="rId11" action="ppaction://hlinksldjump"/>
            <a:extLst>
              <a:ext uri="{FF2B5EF4-FFF2-40B4-BE49-F238E27FC236}">
                <a16:creationId xmlns:a16="http://schemas.microsoft.com/office/drawing/2014/main" id="{B3A8E91F-1166-6948-6046-5CBDE100C3EB}"/>
              </a:ext>
            </a:extLst>
          </p:cNvPr>
          <p:cNvSpPr/>
          <p:nvPr/>
        </p:nvSpPr>
        <p:spPr>
          <a:xfrm>
            <a:off x="55831" y="1233092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hlinkClick r:id="rId12" action="ppaction://hlinksldjump"/>
            <a:extLst>
              <a:ext uri="{FF2B5EF4-FFF2-40B4-BE49-F238E27FC236}">
                <a16:creationId xmlns:a16="http://schemas.microsoft.com/office/drawing/2014/main" id="{D630B9A2-8C3A-EB29-241A-FB3BE3C76C5A}"/>
              </a:ext>
            </a:extLst>
          </p:cNvPr>
          <p:cNvSpPr/>
          <p:nvPr/>
        </p:nvSpPr>
        <p:spPr>
          <a:xfrm>
            <a:off x="107160" y="1708824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Rectangle: Rounded Corners 21">
            <a:hlinkClick r:id="rId13" action="ppaction://hlinksldjump"/>
            <a:extLst>
              <a:ext uri="{FF2B5EF4-FFF2-40B4-BE49-F238E27FC236}">
                <a16:creationId xmlns:a16="http://schemas.microsoft.com/office/drawing/2014/main" id="{27503F92-06DD-BB12-EBE2-AB891B7B0E49}"/>
              </a:ext>
            </a:extLst>
          </p:cNvPr>
          <p:cNvSpPr/>
          <p:nvPr/>
        </p:nvSpPr>
        <p:spPr>
          <a:xfrm>
            <a:off x="88529" y="2115925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hlinkClick r:id="rId14" action="ppaction://hlinksldjump"/>
            <a:extLst>
              <a:ext uri="{FF2B5EF4-FFF2-40B4-BE49-F238E27FC236}">
                <a16:creationId xmlns:a16="http://schemas.microsoft.com/office/drawing/2014/main" id="{D84BEA84-48BE-2515-D03C-48A068A25E8C}"/>
              </a:ext>
            </a:extLst>
          </p:cNvPr>
          <p:cNvSpPr/>
          <p:nvPr/>
        </p:nvSpPr>
        <p:spPr>
          <a:xfrm>
            <a:off x="141211" y="2509251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03E25E3-8E2C-187B-8BF3-91A5FD00834E}"/>
              </a:ext>
            </a:extLst>
          </p:cNvPr>
          <p:cNvGrpSpPr/>
          <p:nvPr/>
        </p:nvGrpSpPr>
        <p:grpSpPr>
          <a:xfrm>
            <a:off x="2286458" y="2752344"/>
            <a:ext cx="2262778" cy="1280160"/>
            <a:chOff x="2763725" y="3017520"/>
            <a:chExt cx="2262778" cy="128016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CE80343-816E-95B4-4231-5935B34D83C1}"/>
                </a:ext>
              </a:extLst>
            </p:cNvPr>
            <p:cNvSpPr/>
            <p:nvPr/>
          </p:nvSpPr>
          <p:spPr>
            <a:xfrm>
              <a:off x="2763725" y="3017520"/>
              <a:ext cx="2262778" cy="1280160"/>
            </a:xfrm>
            <a:prstGeom prst="roundRect">
              <a:avLst/>
            </a:prstGeom>
            <a:solidFill>
              <a:schemeClr val="bg1">
                <a:alpha val="99000"/>
              </a:schemeClr>
            </a:solidFill>
            <a:ln w="15875">
              <a:solidFill>
                <a:srgbClr val="E7EAF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E1FE80-4EBF-3058-7D09-DB3F932350DD}"/>
                </a:ext>
              </a:extLst>
            </p:cNvPr>
            <p:cNvSpPr txBox="1"/>
            <p:nvPr/>
          </p:nvSpPr>
          <p:spPr>
            <a:xfrm>
              <a:off x="2763725" y="3105219"/>
              <a:ext cx="2262778" cy="1139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Largest Expense Category</a:t>
              </a:r>
            </a:p>
            <a:p>
              <a:endPara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en-IN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$411.99M</a:t>
              </a:r>
            </a:p>
            <a:p>
              <a:pPr>
                <a:lnSpc>
                  <a:spcPct val="150000"/>
                </a:lnSpc>
              </a:pPr>
              <a:r>
                <a:rPr lang="en-IN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Payroll — $71.32M below budget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6870013-0F86-1048-44C4-3D91949FC487}"/>
              </a:ext>
            </a:extLst>
          </p:cNvPr>
          <p:cNvGrpSpPr/>
          <p:nvPr/>
        </p:nvGrpSpPr>
        <p:grpSpPr>
          <a:xfrm>
            <a:off x="4755800" y="2752344"/>
            <a:ext cx="2281457" cy="1280160"/>
            <a:chOff x="2745046" y="3017520"/>
            <a:chExt cx="2281457" cy="128016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C823C98-E2D0-314E-6ECC-6851CFF6F8D4}"/>
                </a:ext>
              </a:extLst>
            </p:cNvPr>
            <p:cNvSpPr/>
            <p:nvPr/>
          </p:nvSpPr>
          <p:spPr>
            <a:xfrm>
              <a:off x="2763725" y="3017520"/>
              <a:ext cx="2262778" cy="1280160"/>
            </a:xfrm>
            <a:prstGeom prst="roundRect">
              <a:avLst/>
            </a:prstGeom>
            <a:solidFill>
              <a:schemeClr val="bg1">
                <a:alpha val="99000"/>
              </a:schemeClr>
            </a:solidFill>
            <a:ln w="15875">
              <a:solidFill>
                <a:srgbClr val="E7EAF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E9A1A40-19DC-5D1B-4C11-54CFE8881859}"/>
                </a:ext>
              </a:extLst>
            </p:cNvPr>
            <p:cNvSpPr txBox="1"/>
            <p:nvPr/>
          </p:nvSpPr>
          <p:spPr>
            <a:xfrm>
              <a:off x="2745046" y="3056211"/>
              <a:ext cx="2262778" cy="9014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lvl1pPr>
                <a:defRPr sz="1200" b="1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r>
                <a:rPr lang="en-IN" dirty="0"/>
                <a:t>Outsourced Resources</a:t>
              </a:r>
            </a:p>
            <a:p>
              <a:endParaRPr lang="en-IN" dirty="0"/>
            </a:p>
            <a:p>
              <a:r>
                <a:rPr lang="en-IN" sz="1400" dirty="0"/>
                <a:t>$176.67M</a:t>
              </a:r>
            </a:p>
            <a:p>
              <a:pPr>
                <a:lnSpc>
                  <a:spcPct val="150000"/>
                </a:lnSpc>
              </a:pPr>
              <a:r>
                <a:rPr lang="en-IN" sz="1100" b="0" dirty="0"/>
                <a:t>$46.18M below budget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AC89E9D-8DF9-2250-82BF-0180650120CC}"/>
              </a:ext>
            </a:extLst>
          </p:cNvPr>
          <p:cNvGrpSpPr/>
          <p:nvPr/>
        </p:nvGrpSpPr>
        <p:grpSpPr>
          <a:xfrm>
            <a:off x="7199756" y="2752792"/>
            <a:ext cx="2262778" cy="1280160"/>
            <a:chOff x="2763725" y="3017520"/>
            <a:chExt cx="2262778" cy="128016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21ECC6F3-59D0-16E8-3E52-E0CEB7ADA5E2}"/>
                </a:ext>
              </a:extLst>
            </p:cNvPr>
            <p:cNvSpPr/>
            <p:nvPr/>
          </p:nvSpPr>
          <p:spPr>
            <a:xfrm>
              <a:off x="2763725" y="3017520"/>
              <a:ext cx="2262778" cy="1280160"/>
            </a:xfrm>
            <a:prstGeom prst="roundRect">
              <a:avLst/>
            </a:prstGeom>
            <a:solidFill>
              <a:schemeClr val="bg1">
                <a:alpha val="99000"/>
              </a:schemeClr>
            </a:solidFill>
            <a:ln w="15875">
              <a:solidFill>
                <a:srgbClr val="E7EAF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F7315A0-F12A-8751-C270-13114DF8B9C3}"/>
                </a:ext>
              </a:extLst>
            </p:cNvPr>
            <p:cNvSpPr txBox="1"/>
            <p:nvPr/>
          </p:nvSpPr>
          <p:spPr>
            <a:xfrm>
              <a:off x="2763725" y="3038066"/>
              <a:ext cx="2262778" cy="9014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Other People</a:t>
              </a:r>
            </a:p>
            <a:p>
              <a:endPara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en-IN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+$3.60M</a:t>
              </a:r>
            </a:p>
            <a:p>
              <a:pPr>
                <a:lnSpc>
                  <a:spcPct val="150000"/>
                </a:lnSpc>
              </a:pPr>
              <a:r>
                <a:rPr lang="en-IN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Positive budget variance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98C7E91-61A3-6C43-E709-49E2BF0E0C06}"/>
              </a:ext>
            </a:extLst>
          </p:cNvPr>
          <p:cNvGrpSpPr/>
          <p:nvPr/>
        </p:nvGrpSpPr>
        <p:grpSpPr>
          <a:xfrm>
            <a:off x="9656405" y="2753018"/>
            <a:ext cx="2262778" cy="1280160"/>
            <a:chOff x="2763725" y="3017520"/>
            <a:chExt cx="2262778" cy="1280160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B7B0DA02-EF25-6556-0C05-AF11A6910F30}"/>
                </a:ext>
              </a:extLst>
            </p:cNvPr>
            <p:cNvSpPr/>
            <p:nvPr/>
          </p:nvSpPr>
          <p:spPr>
            <a:xfrm>
              <a:off x="2763725" y="3017520"/>
              <a:ext cx="2262778" cy="1280160"/>
            </a:xfrm>
            <a:prstGeom prst="roundRect">
              <a:avLst/>
            </a:prstGeom>
            <a:solidFill>
              <a:schemeClr val="bg1">
                <a:alpha val="99000"/>
              </a:schemeClr>
            </a:solidFill>
            <a:ln w="15875">
              <a:solidFill>
                <a:srgbClr val="E7EAF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7891DC-5CFB-F514-AC1F-00230C417922}"/>
                </a:ext>
              </a:extLst>
            </p:cNvPr>
            <p:cNvSpPr txBox="1"/>
            <p:nvPr/>
          </p:nvSpPr>
          <p:spPr>
            <a:xfrm>
              <a:off x="2763725" y="3027850"/>
              <a:ext cx="2262778" cy="9014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Product Development</a:t>
              </a:r>
            </a:p>
            <a:p>
              <a:endPara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en-IN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+$1.52M</a:t>
              </a:r>
            </a:p>
            <a:p>
              <a:pPr>
                <a:lnSpc>
                  <a:spcPct val="150000"/>
                </a:lnSpc>
              </a:pPr>
              <a:r>
                <a:rPr lang="en-IN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35.18% above budget</a:t>
              </a:r>
            </a:p>
          </p:txBody>
        </p:sp>
      </p:grpSp>
      <p:pic>
        <p:nvPicPr>
          <p:cNvPr id="35" name="Graphic 34" descr="Users with solid fill">
            <a:extLst>
              <a:ext uri="{FF2B5EF4-FFF2-40B4-BE49-F238E27FC236}">
                <a16:creationId xmlns:a16="http://schemas.microsoft.com/office/drawing/2014/main" id="{0F3B1C39-E5C4-1553-8C81-D48F4F08AB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995673" y="3531583"/>
            <a:ext cx="457200" cy="457200"/>
          </a:xfrm>
          <a:prstGeom prst="rect">
            <a:avLst/>
          </a:prstGeom>
        </p:spPr>
      </p:pic>
      <p:pic>
        <p:nvPicPr>
          <p:cNvPr id="37" name="Graphic 36" descr="Coins">
            <a:extLst>
              <a:ext uri="{FF2B5EF4-FFF2-40B4-BE49-F238E27FC236}">
                <a16:creationId xmlns:a16="http://schemas.microsoft.com/office/drawing/2014/main" id="{9D7EAEDD-0DB2-487F-B480-05565E5C3B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55314" y="3531583"/>
            <a:ext cx="457200" cy="457200"/>
          </a:xfrm>
          <a:prstGeom prst="rect">
            <a:avLst/>
          </a:prstGeom>
        </p:spPr>
      </p:pic>
      <p:pic>
        <p:nvPicPr>
          <p:cNvPr id="38" name="Graphic 10" descr="Upward trend">
            <a:extLst>
              <a:ext uri="{FF2B5EF4-FFF2-40B4-BE49-F238E27FC236}">
                <a16:creationId xmlns:a16="http://schemas.microsoft.com/office/drawing/2014/main" id="{A316452A-2BD9-3096-15F3-F004522D90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73670" y="3536630"/>
            <a:ext cx="457200" cy="457200"/>
          </a:xfrm>
          <a:prstGeom prst="rect">
            <a:avLst/>
          </a:prstGeom>
        </p:spPr>
      </p:pic>
      <p:pic>
        <p:nvPicPr>
          <p:cNvPr id="47" name="Graphic 10" descr="Gears with solid fill">
            <a:extLst>
              <a:ext uri="{FF2B5EF4-FFF2-40B4-BE49-F238E27FC236}">
                <a16:creationId xmlns:a16="http://schemas.microsoft.com/office/drawing/2014/main" id="{8BAD3C14-F231-519A-BD35-9B1C61FD5E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11396623" y="3539748"/>
            <a:ext cx="457200" cy="457200"/>
          </a:xfrm>
          <a:prstGeom prst="rect">
            <a:avLst/>
          </a:prstGeom>
        </p:spPr>
      </p:pic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6AFAD1F4-CB5B-9C97-02C3-187C07E847BF}"/>
              </a:ext>
            </a:extLst>
          </p:cNvPr>
          <p:cNvSpPr/>
          <p:nvPr/>
        </p:nvSpPr>
        <p:spPr>
          <a:xfrm>
            <a:off x="2286457" y="4135418"/>
            <a:ext cx="9632725" cy="1155381"/>
          </a:xfrm>
          <a:prstGeom prst="roundRect">
            <a:avLst/>
          </a:prstGeom>
          <a:solidFill>
            <a:srgbClr val="E7EAF2">
              <a:alpha val="93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71E10C5-8B1D-4BC7-502B-718CA4E87CCF}"/>
              </a:ext>
            </a:extLst>
          </p:cNvPr>
          <p:cNvSpPr txBox="1"/>
          <p:nvPr/>
        </p:nvSpPr>
        <p:spPr>
          <a:xfrm>
            <a:off x="2584704" y="4120203"/>
            <a:ext cx="18681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solidFill>
                  <a:srgbClr val="6246EA"/>
                </a:solidFill>
              </a:rPr>
              <a:t>Recommended Actions</a:t>
            </a:r>
          </a:p>
        </p:txBody>
      </p:sp>
      <p:pic>
        <p:nvPicPr>
          <p:cNvPr id="56" name="Graphic 55" descr="Bullseye with solid fill">
            <a:extLst>
              <a:ext uri="{FF2B5EF4-FFF2-40B4-BE49-F238E27FC236}">
                <a16:creationId xmlns:a16="http://schemas.microsoft.com/office/drawing/2014/main" id="{22154897-22B5-78AB-41C0-1E7A230520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355646" y="4118421"/>
            <a:ext cx="274320" cy="27432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4D4830D0-3D2F-5FD1-C2B6-EE382470BD92}"/>
              </a:ext>
            </a:extLst>
          </p:cNvPr>
          <p:cNvSpPr txBox="1"/>
          <p:nvPr/>
        </p:nvSpPr>
        <p:spPr>
          <a:xfrm>
            <a:off x="2579281" y="4583035"/>
            <a:ext cx="275147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Review Workforce Costs</a:t>
            </a:r>
          </a:p>
          <a:p>
            <a:endParaRPr lang="en-IN" sz="1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Investigate Payroll and Outsourced Resources budget assumptions and cost drivers.</a:t>
            </a:r>
          </a:p>
          <a:p>
            <a:endParaRPr lang="en-IN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561296-62D1-5566-2BA0-ED8DA7C67710}"/>
              </a:ext>
            </a:extLst>
          </p:cNvPr>
          <p:cNvSpPr txBox="1"/>
          <p:nvPr/>
        </p:nvSpPr>
        <p:spPr>
          <a:xfrm>
            <a:off x="5695373" y="4567524"/>
            <a:ext cx="285872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Investigate Positive Variances</a:t>
            </a:r>
          </a:p>
          <a:p>
            <a:endParaRPr lang="en-IN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Examine Other People and Product Development expenses against approved budgets.</a:t>
            </a:r>
          </a:p>
          <a:p>
            <a:endParaRPr lang="en-IN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D68293C-A137-CE9B-96F1-1683301EF7BC}"/>
              </a:ext>
            </a:extLst>
          </p:cNvPr>
          <p:cNvSpPr txBox="1"/>
          <p:nvPr/>
        </p:nvSpPr>
        <p:spPr>
          <a:xfrm>
            <a:off x="8783155" y="4583034"/>
            <a:ext cx="336508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Improve Forecast Monitoring</a:t>
            </a:r>
          </a:p>
          <a:p>
            <a:endParaRPr lang="en-IN" sz="1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Validate record coverage and reporting periods before evaluating forecast accuracy.</a:t>
            </a:r>
          </a:p>
          <a:p>
            <a:endParaRPr lang="en-IN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8AE73C3-4526-2BDF-DB24-63D7A59F18F4}"/>
              </a:ext>
            </a:extLst>
          </p:cNvPr>
          <p:cNvSpPr txBox="1"/>
          <p:nvPr/>
        </p:nvSpPr>
        <p:spPr>
          <a:xfrm>
            <a:off x="4522912" y="4496517"/>
            <a:ext cx="46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246EA"/>
                </a:solidFill>
              </a:rPr>
              <a:t>01</a:t>
            </a:r>
            <a:endParaRPr lang="en-IN" dirty="0">
              <a:solidFill>
                <a:srgbClr val="6246EA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FBB8675-390D-7E29-C6D4-36A7845281A2}"/>
              </a:ext>
            </a:extLst>
          </p:cNvPr>
          <p:cNvSpPr txBox="1"/>
          <p:nvPr/>
        </p:nvSpPr>
        <p:spPr>
          <a:xfrm>
            <a:off x="7981052" y="4475870"/>
            <a:ext cx="582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246EA"/>
                </a:solidFill>
              </a:rPr>
              <a:t>02</a:t>
            </a:r>
            <a:endParaRPr lang="en-IN" dirty="0">
              <a:solidFill>
                <a:srgbClr val="6246EA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BD769AC-CFA6-13D9-4626-A50C729F0A72}"/>
              </a:ext>
            </a:extLst>
          </p:cNvPr>
          <p:cNvSpPr txBox="1"/>
          <p:nvPr/>
        </p:nvSpPr>
        <p:spPr>
          <a:xfrm>
            <a:off x="11155102" y="4475825"/>
            <a:ext cx="582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246EA"/>
                </a:solidFill>
              </a:rPr>
              <a:t>03</a:t>
            </a:r>
            <a:endParaRPr lang="en-IN" dirty="0">
              <a:solidFill>
                <a:srgbClr val="6246EA"/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5BF90A2-CFBA-79CA-8C17-09DD5526F0E9}"/>
              </a:ext>
            </a:extLst>
          </p:cNvPr>
          <p:cNvSpPr/>
          <p:nvPr/>
        </p:nvSpPr>
        <p:spPr>
          <a:xfrm>
            <a:off x="4522912" y="4506840"/>
            <a:ext cx="439451" cy="348685"/>
          </a:xfrm>
          <a:prstGeom prst="roundRect">
            <a:avLst/>
          </a:prstGeom>
          <a:solidFill>
            <a:srgbClr val="B9AAFF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3348C3E6-3A3B-B356-65EC-3E3B0872FE11}"/>
              </a:ext>
            </a:extLst>
          </p:cNvPr>
          <p:cNvSpPr/>
          <p:nvPr/>
        </p:nvSpPr>
        <p:spPr>
          <a:xfrm>
            <a:off x="8004521" y="4496472"/>
            <a:ext cx="439451" cy="348685"/>
          </a:xfrm>
          <a:prstGeom prst="roundRect">
            <a:avLst/>
          </a:prstGeom>
          <a:solidFill>
            <a:srgbClr val="B9AAFF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51BB3047-2C00-3CF5-A3AF-59ECCA1CCFDF}"/>
              </a:ext>
            </a:extLst>
          </p:cNvPr>
          <p:cNvSpPr/>
          <p:nvPr/>
        </p:nvSpPr>
        <p:spPr>
          <a:xfrm>
            <a:off x="11176897" y="4493793"/>
            <a:ext cx="439451" cy="348685"/>
          </a:xfrm>
          <a:prstGeom prst="roundRect">
            <a:avLst/>
          </a:prstGeom>
          <a:solidFill>
            <a:srgbClr val="B9AAFF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79" name="Chart 78">
            <a:extLst>
              <a:ext uri="{FF2B5EF4-FFF2-40B4-BE49-F238E27FC236}">
                <a16:creationId xmlns:a16="http://schemas.microsoft.com/office/drawing/2014/main" id="{37117450-5CD8-0177-EBA5-67235100FA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1526394"/>
              </p:ext>
            </p:extLst>
          </p:nvPr>
        </p:nvGraphicFramePr>
        <p:xfrm>
          <a:off x="7464252" y="5441595"/>
          <a:ext cx="2199402" cy="12367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83" name="TextBox 82">
            <a:extLst>
              <a:ext uri="{FF2B5EF4-FFF2-40B4-BE49-F238E27FC236}">
                <a16:creationId xmlns:a16="http://schemas.microsoft.com/office/drawing/2014/main" id="{40848442-BC04-8548-53AA-FF01B308A916}"/>
              </a:ext>
            </a:extLst>
          </p:cNvPr>
          <p:cNvSpPr txBox="1"/>
          <p:nvPr/>
        </p:nvSpPr>
        <p:spPr>
          <a:xfrm>
            <a:off x="2579281" y="5522972"/>
            <a:ext cx="3267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rgbClr val="6246EA"/>
                </a:solidFill>
              </a:rPr>
              <a:t>OVERALL FINANCIAL PERFORMANCE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4BD6978-F47C-5C1E-9D49-EFBD01C2F819}"/>
              </a:ext>
            </a:extLst>
          </p:cNvPr>
          <p:cNvSpPr txBox="1"/>
          <p:nvPr/>
        </p:nvSpPr>
        <p:spPr>
          <a:xfrm>
            <a:off x="2579281" y="5816380"/>
            <a:ext cx="1313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$118.21M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BFD9CD3-2E02-331B-4E60-B5C41470E462}"/>
              </a:ext>
            </a:extLst>
          </p:cNvPr>
          <p:cNvSpPr txBox="1"/>
          <p:nvPr/>
        </p:nvSpPr>
        <p:spPr>
          <a:xfrm>
            <a:off x="2569581" y="6113533"/>
            <a:ext cx="3267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>
                    <a:lumMod val="65000"/>
                  </a:schemeClr>
                </a:solidFill>
              </a:rPr>
              <a:t>Actual expense balance below budget</a:t>
            </a:r>
            <a:endParaRPr lang="en-IN" sz="12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B00A6F8-B39D-B2C2-23F2-06119C6FF1AD}"/>
              </a:ext>
            </a:extLst>
          </p:cNvPr>
          <p:cNvSpPr txBox="1"/>
          <p:nvPr/>
        </p:nvSpPr>
        <p:spPr>
          <a:xfrm>
            <a:off x="9362659" y="5816380"/>
            <a:ext cx="2491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Budget Utilization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A0C9386-1D02-8085-9C07-2702D694A961}"/>
              </a:ext>
            </a:extLst>
          </p:cNvPr>
          <p:cNvSpPr txBox="1"/>
          <p:nvPr/>
        </p:nvSpPr>
        <p:spPr>
          <a:xfrm>
            <a:off x="9328411" y="6113533"/>
            <a:ext cx="24911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bg1">
                    <a:lumMod val="65000"/>
                  </a:schemeClr>
                </a:solidFill>
              </a:rPr>
              <a:t>July–December 2012</a:t>
            </a:r>
            <a:endParaRPr lang="en-IN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3" name="Rectangle: Rounded Corners 92">
            <a:hlinkClick r:id="rId21" action="ppaction://hlinksldjump"/>
            <a:extLst>
              <a:ext uri="{FF2B5EF4-FFF2-40B4-BE49-F238E27FC236}">
                <a16:creationId xmlns:a16="http://schemas.microsoft.com/office/drawing/2014/main" id="{F8DACF22-32CD-D9F1-6C56-0EAAA325908C}"/>
              </a:ext>
            </a:extLst>
          </p:cNvPr>
          <p:cNvSpPr/>
          <p:nvPr/>
        </p:nvSpPr>
        <p:spPr>
          <a:xfrm>
            <a:off x="38455" y="2886038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5" name="Rectangle: Rounded Corners 94">
            <a:hlinkClick r:id="rId22" action="ppaction://hlinksldjump"/>
            <a:extLst>
              <a:ext uri="{FF2B5EF4-FFF2-40B4-BE49-F238E27FC236}">
                <a16:creationId xmlns:a16="http://schemas.microsoft.com/office/drawing/2014/main" id="{C40FF1BD-6A0C-962D-BD25-79521292344C}"/>
              </a:ext>
            </a:extLst>
          </p:cNvPr>
          <p:cNvSpPr/>
          <p:nvPr/>
        </p:nvSpPr>
        <p:spPr>
          <a:xfrm>
            <a:off x="67378" y="3723827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0011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2A9765-86B3-473F-9D58-2C7720A85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0FD6BE-9C32-64E9-1733-5507DE6D87E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9000"/>
          </a:blip>
          <a:srcRect r="32144" b="6144"/>
          <a:stretch>
            <a:fillRect/>
          </a:stretch>
        </p:blipFill>
        <p:spPr>
          <a:xfrm>
            <a:off x="2086890" y="-20952"/>
            <a:ext cx="10105110" cy="6878952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1000"/>
              </a:srgbClr>
            </a:outerShdw>
            <a:softEdge rad="25400"/>
          </a:effectLst>
        </p:spPr>
      </p:pic>
      <p:sp>
        <p:nvSpPr>
          <p:cNvPr id="73" name="Oval 72">
            <a:extLst>
              <a:ext uri="{FF2B5EF4-FFF2-40B4-BE49-F238E27FC236}">
                <a16:creationId xmlns:a16="http://schemas.microsoft.com/office/drawing/2014/main" id="{702F10AF-A4F1-4E00-C4F7-A9FB38BF883E}"/>
              </a:ext>
            </a:extLst>
          </p:cNvPr>
          <p:cNvSpPr/>
          <p:nvPr/>
        </p:nvSpPr>
        <p:spPr>
          <a:xfrm>
            <a:off x="1155032" y="3129328"/>
            <a:ext cx="4572000" cy="4526155"/>
          </a:xfrm>
          <a:prstGeom prst="ellipse">
            <a:avLst/>
          </a:prstGeom>
          <a:solidFill>
            <a:srgbClr val="6246EA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AE34D11-5C4E-86E9-63AD-5E830A159F96}"/>
              </a:ext>
            </a:extLst>
          </p:cNvPr>
          <p:cNvSpPr/>
          <p:nvPr/>
        </p:nvSpPr>
        <p:spPr>
          <a:xfrm>
            <a:off x="-446919" y="-626970"/>
            <a:ext cx="5072743" cy="5108113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661E98C-0B06-B924-C487-42DCAED4F617}"/>
              </a:ext>
            </a:extLst>
          </p:cNvPr>
          <p:cNvSpPr/>
          <p:nvPr/>
        </p:nvSpPr>
        <p:spPr>
          <a:xfrm>
            <a:off x="-1" y="0"/>
            <a:ext cx="2057400" cy="6858000"/>
          </a:xfrm>
          <a:prstGeom prst="rect">
            <a:avLst/>
          </a:prstGeom>
          <a:solidFill>
            <a:srgbClr val="1018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50D0765-A260-3A5A-F6B6-D5EE7740CAF6}"/>
              </a:ext>
            </a:extLst>
          </p:cNvPr>
          <p:cNvSpPr txBox="1"/>
          <p:nvPr/>
        </p:nvSpPr>
        <p:spPr>
          <a:xfrm>
            <a:off x="-1" y="141514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FinInsight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D35DF9E-0127-5088-F40B-E61CD876E5D5}"/>
              </a:ext>
            </a:extLst>
          </p:cNvPr>
          <p:cNvSpPr txBox="1"/>
          <p:nvPr/>
        </p:nvSpPr>
        <p:spPr>
          <a:xfrm>
            <a:off x="354511" y="1290152"/>
            <a:ext cx="1578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Home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31EA5DB-5F36-5BBE-84DE-A34CD2DF7AC6}"/>
              </a:ext>
            </a:extLst>
          </p:cNvPr>
          <p:cNvSpPr txBox="1"/>
          <p:nvPr/>
        </p:nvSpPr>
        <p:spPr>
          <a:xfrm>
            <a:off x="338181" y="1771164"/>
            <a:ext cx="8962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Overview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0B966C6-CFBD-9B08-6FB5-CFEF2B28AA61}"/>
              </a:ext>
            </a:extLst>
          </p:cNvPr>
          <p:cNvSpPr txBox="1"/>
          <p:nvPr/>
        </p:nvSpPr>
        <p:spPr>
          <a:xfrm>
            <a:off x="338181" y="2170532"/>
            <a:ext cx="1505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Expense &amp; Budget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B56D952-678A-E834-DF90-9376C1B9D7EA}"/>
              </a:ext>
            </a:extLst>
          </p:cNvPr>
          <p:cNvSpPr txBox="1"/>
          <p:nvPr/>
        </p:nvSpPr>
        <p:spPr>
          <a:xfrm>
            <a:off x="338178" y="2958216"/>
            <a:ext cx="1505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Forecast Analysis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DCB4401-6D29-556D-5856-68B637F19408}"/>
              </a:ext>
            </a:extLst>
          </p:cNvPr>
          <p:cNvSpPr txBox="1"/>
          <p:nvPr/>
        </p:nvSpPr>
        <p:spPr>
          <a:xfrm>
            <a:off x="338179" y="2564374"/>
            <a:ext cx="1741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Department &amp; Region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715AD61-2E7E-6943-CC4A-EE75DE667E0E}"/>
              </a:ext>
            </a:extLst>
          </p:cNvPr>
          <p:cNvSpPr txBox="1"/>
          <p:nvPr/>
        </p:nvSpPr>
        <p:spPr>
          <a:xfrm>
            <a:off x="338176" y="3745344"/>
            <a:ext cx="1063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93F2D5A-26B4-48C7-5918-647AB24A3F05}"/>
              </a:ext>
            </a:extLst>
          </p:cNvPr>
          <p:cNvSpPr txBox="1"/>
          <p:nvPr/>
        </p:nvSpPr>
        <p:spPr>
          <a:xfrm>
            <a:off x="338177" y="3351780"/>
            <a:ext cx="1063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Key Insights</a:t>
            </a:r>
          </a:p>
        </p:txBody>
      </p:sp>
      <p:pic>
        <p:nvPicPr>
          <p:cNvPr id="88" name="Graphic 87" descr="Home outline">
            <a:extLst>
              <a:ext uri="{FF2B5EF4-FFF2-40B4-BE49-F238E27FC236}">
                <a16:creationId xmlns:a16="http://schemas.microsoft.com/office/drawing/2014/main" id="{9E5F057B-3027-C78A-6B2D-2CE2DE0C23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60" y="1268089"/>
            <a:ext cx="276999" cy="276999"/>
          </a:xfrm>
          <a:prstGeom prst="rect">
            <a:avLst/>
          </a:prstGeom>
        </p:spPr>
      </p:pic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0E692325-1A94-8968-AC97-31EC56699063}"/>
              </a:ext>
            </a:extLst>
          </p:cNvPr>
          <p:cNvSpPr/>
          <p:nvPr/>
        </p:nvSpPr>
        <p:spPr>
          <a:xfrm>
            <a:off x="88529" y="3701383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3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2" name="Graphic 91" descr="Document outline">
            <a:extLst>
              <a:ext uri="{FF2B5EF4-FFF2-40B4-BE49-F238E27FC236}">
                <a16:creationId xmlns:a16="http://schemas.microsoft.com/office/drawing/2014/main" id="{9E764800-45E6-5868-0F22-4FA2CCF3FF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839" y="1734083"/>
            <a:ext cx="274320" cy="274320"/>
          </a:xfrm>
          <a:prstGeom prst="rect">
            <a:avLst/>
          </a:prstGeom>
        </p:spPr>
      </p:pic>
      <p:pic>
        <p:nvPicPr>
          <p:cNvPr id="94" name="Graphic 93" descr="Coins outline">
            <a:extLst>
              <a:ext uri="{FF2B5EF4-FFF2-40B4-BE49-F238E27FC236}">
                <a16:creationId xmlns:a16="http://schemas.microsoft.com/office/drawing/2014/main" id="{6D117E66-BED9-DBC3-9B43-DBBD4D5F2E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839" y="2164300"/>
            <a:ext cx="274320" cy="274320"/>
          </a:xfrm>
          <a:prstGeom prst="rect">
            <a:avLst/>
          </a:prstGeom>
        </p:spPr>
      </p:pic>
      <p:pic>
        <p:nvPicPr>
          <p:cNvPr id="96" name="Graphic 95" descr="Cycle with people outline">
            <a:extLst>
              <a:ext uri="{FF2B5EF4-FFF2-40B4-BE49-F238E27FC236}">
                <a16:creationId xmlns:a16="http://schemas.microsoft.com/office/drawing/2014/main" id="{90D9CAAB-5912-006B-A880-8A9E724BDF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839" y="2554353"/>
            <a:ext cx="274320" cy="274320"/>
          </a:xfrm>
          <a:prstGeom prst="rect">
            <a:avLst/>
          </a:prstGeom>
        </p:spPr>
      </p:pic>
      <p:pic>
        <p:nvPicPr>
          <p:cNvPr id="98" name="Graphic 97" descr="Upward trend outline">
            <a:extLst>
              <a:ext uri="{FF2B5EF4-FFF2-40B4-BE49-F238E27FC236}">
                <a16:creationId xmlns:a16="http://schemas.microsoft.com/office/drawing/2014/main" id="{42EAB686-DD93-D2AD-E4A0-1BAFAE7C41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839" y="2948301"/>
            <a:ext cx="274320" cy="274320"/>
          </a:xfrm>
          <a:prstGeom prst="rect">
            <a:avLst/>
          </a:prstGeom>
        </p:spPr>
      </p:pic>
      <p:pic>
        <p:nvPicPr>
          <p:cNvPr id="100" name="Graphic 99" descr="Lightbulb outline">
            <a:extLst>
              <a:ext uri="{FF2B5EF4-FFF2-40B4-BE49-F238E27FC236}">
                <a16:creationId xmlns:a16="http://schemas.microsoft.com/office/drawing/2014/main" id="{C469DC3C-6CFD-6AD8-8E98-C958E2313A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839" y="3369395"/>
            <a:ext cx="274320" cy="274320"/>
          </a:xfrm>
          <a:prstGeom prst="rect">
            <a:avLst/>
          </a:prstGeom>
        </p:spPr>
      </p:pic>
      <p:pic>
        <p:nvPicPr>
          <p:cNvPr id="102" name="Graphic 101" descr="CheckList outline">
            <a:extLst>
              <a:ext uri="{FF2B5EF4-FFF2-40B4-BE49-F238E27FC236}">
                <a16:creationId xmlns:a16="http://schemas.microsoft.com/office/drawing/2014/main" id="{7AD7154B-1B82-93C0-EA9E-635DCBE0C4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161" y="3746830"/>
            <a:ext cx="274320" cy="27432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5F0FCA9C-228E-3709-B8B9-4EF97132CECE}"/>
              </a:ext>
            </a:extLst>
          </p:cNvPr>
          <p:cNvSpPr txBox="1"/>
          <p:nvPr/>
        </p:nvSpPr>
        <p:spPr>
          <a:xfrm>
            <a:off x="0" y="6390532"/>
            <a:ext cx="30697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bg1">
                    <a:lumMod val="75000"/>
                  </a:schemeClr>
                </a:solidFill>
              </a:rPr>
              <a:t>Shouary Verma </a:t>
            </a:r>
          </a:p>
          <a:p>
            <a:r>
              <a:rPr lang="en-IN" sz="1100" dirty="0">
                <a:solidFill>
                  <a:schemeClr val="bg1">
                    <a:lumMod val="75000"/>
                  </a:schemeClr>
                </a:solidFill>
              </a:rPr>
              <a:t>Persevex Internship Project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B5E88CF-1C52-E485-F05C-6C223C73252A}"/>
              </a:ext>
            </a:extLst>
          </p:cNvPr>
          <p:cNvSpPr txBox="1"/>
          <p:nvPr/>
        </p:nvSpPr>
        <p:spPr>
          <a:xfrm>
            <a:off x="2215236" y="1109816"/>
            <a:ext cx="5350942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6246EA"/>
                </a:solidFill>
              </a:rPr>
              <a:t>07 | CONCLUSION &amp; FUTURE SCOPE</a:t>
            </a:r>
          </a:p>
          <a:p>
            <a:r>
              <a:rPr lang="en-IN" sz="3200" b="1" dirty="0"/>
              <a:t>Project</a:t>
            </a:r>
            <a:r>
              <a:rPr lang="en-IN" sz="3200" b="1" dirty="0">
                <a:solidFill>
                  <a:srgbClr val="6246EA"/>
                </a:solidFill>
              </a:rPr>
              <a:t> Conclusion</a:t>
            </a:r>
          </a:p>
          <a:p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Transforming financial data into meaningful insights for better decision-making.</a:t>
            </a:r>
          </a:p>
        </p:txBody>
      </p:sp>
      <p:sp>
        <p:nvSpPr>
          <p:cNvPr id="104" name="Rectangle: Rounded Corners 103">
            <a:hlinkClick r:id="rId11" action="ppaction://hlinksldjump"/>
            <a:extLst>
              <a:ext uri="{FF2B5EF4-FFF2-40B4-BE49-F238E27FC236}">
                <a16:creationId xmlns:a16="http://schemas.microsoft.com/office/drawing/2014/main" id="{F59033EC-26AE-6FC7-EED0-90776E10A427}"/>
              </a:ext>
            </a:extLst>
          </p:cNvPr>
          <p:cNvSpPr/>
          <p:nvPr/>
        </p:nvSpPr>
        <p:spPr>
          <a:xfrm>
            <a:off x="55831" y="1233092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hlinkClick r:id="rId12" action="ppaction://hlinksldjump"/>
            <a:extLst>
              <a:ext uri="{FF2B5EF4-FFF2-40B4-BE49-F238E27FC236}">
                <a16:creationId xmlns:a16="http://schemas.microsoft.com/office/drawing/2014/main" id="{EED6C24C-336F-9448-6910-F39C213F261C}"/>
              </a:ext>
            </a:extLst>
          </p:cNvPr>
          <p:cNvSpPr/>
          <p:nvPr/>
        </p:nvSpPr>
        <p:spPr>
          <a:xfrm>
            <a:off x="107160" y="1708824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Rectangle: Rounded Corners 21">
            <a:hlinkClick r:id="rId13" action="ppaction://hlinksldjump"/>
            <a:extLst>
              <a:ext uri="{FF2B5EF4-FFF2-40B4-BE49-F238E27FC236}">
                <a16:creationId xmlns:a16="http://schemas.microsoft.com/office/drawing/2014/main" id="{05C6BA0F-C7CA-344B-2944-1EDA5B630D84}"/>
              </a:ext>
            </a:extLst>
          </p:cNvPr>
          <p:cNvSpPr/>
          <p:nvPr/>
        </p:nvSpPr>
        <p:spPr>
          <a:xfrm>
            <a:off x="88529" y="2115925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hlinkClick r:id="rId14" action="ppaction://hlinksldjump"/>
            <a:extLst>
              <a:ext uri="{FF2B5EF4-FFF2-40B4-BE49-F238E27FC236}">
                <a16:creationId xmlns:a16="http://schemas.microsoft.com/office/drawing/2014/main" id="{AE251AB3-5E32-F363-5767-49B0DF22A225}"/>
              </a:ext>
            </a:extLst>
          </p:cNvPr>
          <p:cNvSpPr/>
          <p:nvPr/>
        </p:nvSpPr>
        <p:spPr>
          <a:xfrm>
            <a:off x="141211" y="2509251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3" name="Rectangle: Rounded Corners 92">
            <a:hlinkClick r:id="rId15" action="ppaction://hlinksldjump"/>
            <a:extLst>
              <a:ext uri="{FF2B5EF4-FFF2-40B4-BE49-F238E27FC236}">
                <a16:creationId xmlns:a16="http://schemas.microsoft.com/office/drawing/2014/main" id="{351EA137-1CA5-1A59-5777-A764C9B0C04E}"/>
              </a:ext>
            </a:extLst>
          </p:cNvPr>
          <p:cNvSpPr/>
          <p:nvPr/>
        </p:nvSpPr>
        <p:spPr>
          <a:xfrm>
            <a:off x="38455" y="2886038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16AB62-CB88-A725-825B-714A863C3731}"/>
              </a:ext>
            </a:extLst>
          </p:cNvPr>
          <p:cNvSpPr/>
          <p:nvPr/>
        </p:nvSpPr>
        <p:spPr>
          <a:xfrm>
            <a:off x="2291214" y="2146193"/>
            <a:ext cx="9662152" cy="148320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0CA9FB-552A-C6A2-97C6-812A8996276A}"/>
              </a:ext>
            </a:extLst>
          </p:cNvPr>
          <p:cNvSpPr txBox="1"/>
          <p:nvPr/>
        </p:nvSpPr>
        <p:spPr>
          <a:xfrm>
            <a:off x="3157584" y="2288198"/>
            <a:ext cx="855061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Project Conclusion</a:t>
            </a:r>
          </a:p>
          <a:p>
            <a:r>
              <a:rPr lang="en-I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FinInsight</a:t>
            </a:r>
            <a:r>
              <a:rPr lang="en-I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demonstrates how Excel, Power Query, PostgreSQL, SQL, Power BI, and DAX can transform complex financial data into meaningful insights. The project successfully </a:t>
            </a:r>
            <a:r>
              <a:rPr lang="en-I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analyzed</a:t>
            </a:r>
            <a:r>
              <a:rPr lang="en-I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expense patterns, budget utilization, departmental and regional performance, and forecast scenario differences through interactive dashboards and SQL validation.</a:t>
            </a:r>
          </a:p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4536EC-B2B9-4C53-6CCE-499B9A26AC83}"/>
              </a:ext>
            </a:extLst>
          </p:cNvPr>
          <p:cNvCxnSpPr/>
          <p:nvPr/>
        </p:nvCxnSpPr>
        <p:spPr>
          <a:xfrm>
            <a:off x="3069772" y="2356293"/>
            <a:ext cx="0" cy="109272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4669467-E2CA-0423-F6B5-FB1F6D2D372B}"/>
              </a:ext>
            </a:extLst>
          </p:cNvPr>
          <p:cNvSpPr/>
          <p:nvPr/>
        </p:nvSpPr>
        <p:spPr>
          <a:xfrm>
            <a:off x="2451370" y="2325753"/>
            <a:ext cx="547702" cy="540722"/>
          </a:xfrm>
          <a:prstGeom prst="roundRect">
            <a:avLst/>
          </a:prstGeom>
          <a:solidFill>
            <a:srgbClr val="6246EA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Graphic 19" descr="Document with solid fill">
            <a:extLst>
              <a:ext uri="{FF2B5EF4-FFF2-40B4-BE49-F238E27FC236}">
                <a16:creationId xmlns:a16="http://schemas.microsoft.com/office/drawing/2014/main" id="{116244B2-2D12-26FA-F6F0-80351BACCB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524861" y="2393435"/>
            <a:ext cx="400719" cy="400719"/>
          </a:xfrm>
          <a:prstGeom prst="rect">
            <a:avLst/>
          </a:prstGeom>
        </p:spPr>
      </p:pic>
      <p:sp>
        <p:nvSpPr>
          <p:cNvPr id="25" name="Rectangle: Rounded Corners 24">
            <a:hlinkClick r:id="rId17" action="ppaction://hlinksldjump"/>
            <a:extLst>
              <a:ext uri="{FF2B5EF4-FFF2-40B4-BE49-F238E27FC236}">
                <a16:creationId xmlns:a16="http://schemas.microsoft.com/office/drawing/2014/main" id="{79CD5254-BBE5-D726-0410-178F86D92F38}"/>
              </a:ext>
            </a:extLst>
          </p:cNvPr>
          <p:cNvSpPr/>
          <p:nvPr/>
        </p:nvSpPr>
        <p:spPr>
          <a:xfrm>
            <a:off x="79932" y="3312655"/>
            <a:ext cx="1899796" cy="376926"/>
          </a:xfrm>
          <a:prstGeom prst="roundRect">
            <a:avLst>
              <a:gd name="adj" fmla="val 28219"/>
            </a:avLst>
          </a:prstGeom>
          <a:solidFill>
            <a:srgbClr val="6246EA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47DB9A9-C03B-3AB7-3B39-BB5A0827C9A0}"/>
              </a:ext>
            </a:extLst>
          </p:cNvPr>
          <p:cNvGrpSpPr/>
          <p:nvPr/>
        </p:nvGrpSpPr>
        <p:grpSpPr>
          <a:xfrm>
            <a:off x="2288474" y="4029412"/>
            <a:ext cx="2062264" cy="1229200"/>
            <a:chOff x="2288474" y="3892252"/>
            <a:chExt cx="2062264" cy="122920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BF2653CE-F313-B2BC-49A1-3F2E77CA98C3}"/>
                </a:ext>
              </a:extLst>
            </p:cNvPr>
            <p:cNvSpPr/>
            <p:nvPr/>
          </p:nvSpPr>
          <p:spPr>
            <a:xfrm>
              <a:off x="2288474" y="3892252"/>
              <a:ext cx="2062264" cy="116480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B88C622-799F-6964-C695-C463767B0F4C}"/>
                </a:ext>
              </a:extLst>
            </p:cNvPr>
            <p:cNvSpPr txBox="1"/>
            <p:nvPr/>
          </p:nvSpPr>
          <p:spPr>
            <a:xfrm>
              <a:off x="2410020" y="3982679"/>
              <a:ext cx="1688830" cy="113877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IN" sz="2000" dirty="0">
                  <a:solidFill>
                    <a:srgbClr val="6246EA"/>
                  </a:solidFill>
                </a:rPr>
                <a:t>541,522</a:t>
              </a:r>
              <a:r>
                <a:rPr lang="en-IN" sz="1400" dirty="0"/>
                <a:t> </a:t>
              </a:r>
            </a:p>
            <a:p>
              <a:r>
                <a:rPr lang="en-IN" sz="1400" dirty="0"/>
                <a:t>Records</a:t>
              </a:r>
            </a:p>
            <a:p>
              <a:r>
                <a:rPr lang="en-IN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Financial fact records </a:t>
              </a:r>
              <a:r>
                <a:rPr lang="en-IN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analyzed</a:t>
              </a:r>
              <a:endParaRPr lang="en-IN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endParaRPr lang="en-IN" sz="1400" dirty="0"/>
            </a:p>
          </p:txBody>
        </p:sp>
      </p:grp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073EA04-4457-0502-F9FD-BEFA970AD299}"/>
              </a:ext>
            </a:extLst>
          </p:cNvPr>
          <p:cNvSpPr/>
          <p:nvPr/>
        </p:nvSpPr>
        <p:spPr>
          <a:xfrm>
            <a:off x="3788853" y="4169886"/>
            <a:ext cx="386455" cy="359597"/>
          </a:xfrm>
          <a:prstGeom prst="roundRect">
            <a:avLst/>
          </a:prstGeom>
          <a:solidFill>
            <a:srgbClr val="B9AAFF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CBC5DE9-E5F5-C753-ACD8-4CF4FB5E0E1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51042" y="4215527"/>
            <a:ext cx="247808" cy="247808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D9DC2D8C-C102-C7B6-B4CF-B810760ED04C}"/>
              </a:ext>
            </a:extLst>
          </p:cNvPr>
          <p:cNvGrpSpPr/>
          <p:nvPr/>
        </p:nvGrpSpPr>
        <p:grpSpPr>
          <a:xfrm>
            <a:off x="4834718" y="4030657"/>
            <a:ext cx="2062264" cy="1229199"/>
            <a:chOff x="2288474" y="3892252"/>
            <a:chExt cx="2062264" cy="1229199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E36607B5-C927-8521-90C9-85EAC44A6CFE}"/>
                </a:ext>
              </a:extLst>
            </p:cNvPr>
            <p:cNvSpPr/>
            <p:nvPr/>
          </p:nvSpPr>
          <p:spPr>
            <a:xfrm>
              <a:off x="2288474" y="3892252"/>
              <a:ext cx="2062264" cy="116480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FD8DD7D-A48D-23FB-A08F-7D1D03F7A327}"/>
                </a:ext>
              </a:extLst>
            </p:cNvPr>
            <p:cNvSpPr txBox="1"/>
            <p:nvPr/>
          </p:nvSpPr>
          <p:spPr>
            <a:xfrm>
              <a:off x="2410020" y="3982678"/>
              <a:ext cx="1688830" cy="113877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IN" sz="2000" dirty="0">
                  <a:solidFill>
                    <a:srgbClr val="6246EA"/>
                  </a:solidFill>
                </a:rPr>
                <a:t>6</a:t>
              </a:r>
            </a:p>
            <a:p>
              <a:r>
                <a:rPr lang="en-IN" sz="1400" dirty="0"/>
                <a:t>Power BI Pages</a:t>
              </a:r>
            </a:p>
            <a:p>
              <a:r>
                <a:rPr lang="en-IN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Interactive financial reporting</a:t>
              </a:r>
            </a:p>
            <a:p>
              <a:endParaRPr lang="en-IN" sz="1400" dirty="0"/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31144118-EA07-C8BA-8338-8CD831BBA44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3693" y="4157595"/>
            <a:ext cx="361505" cy="361505"/>
          </a:xfrm>
          <a:prstGeom prst="rect">
            <a:avLst/>
          </a:prstGeom>
          <a:ln>
            <a:noFill/>
          </a:ln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472E78A0-BBFF-C2CD-2218-165B916370E2}"/>
              </a:ext>
            </a:extLst>
          </p:cNvPr>
          <p:cNvGrpSpPr/>
          <p:nvPr/>
        </p:nvGrpSpPr>
        <p:grpSpPr>
          <a:xfrm>
            <a:off x="7362910" y="4032504"/>
            <a:ext cx="2062264" cy="1164803"/>
            <a:chOff x="2288474" y="3892252"/>
            <a:chExt cx="2062264" cy="1164803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465527B1-9A62-C383-9EB6-830E5F7B599C}"/>
                </a:ext>
              </a:extLst>
            </p:cNvPr>
            <p:cNvSpPr/>
            <p:nvPr/>
          </p:nvSpPr>
          <p:spPr>
            <a:xfrm>
              <a:off x="2288474" y="3892252"/>
              <a:ext cx="2062264" cy="116480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D516BFB-C428-2C44-5DA9-AD1AC1BFC24D}"/>
                </a:ext>
              </a:extLst>
            </p:cNvPr>
            <p:cNvSpPr txBox="1"/>
            <p:nvPr/>
          </p:nvSpPr>
          <p:spPr>
            <a:xfrm>
              <a:off x="2410020" y="3970710"/>
              <a:ext cx="1688830" cy="98488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IN" sz="2000" dirty="0">
                  <a:solidFill>
                    <a:srgbClr val="6246EA"/>
                  </a:solidFill>
                </a:rPr>
                <a:t>SQL</a:t>
              </a:r>
            </a:p>
            <a:p>
              <a:r>
                <a:rPr lang="en-IN" sz="1400" dirty="0"/>
                <a:t>Validation</a:t>
              </a:r>
            </a:p>
            <a:p>
              <a:r>
                <a:rPr lang="en-IN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Reconciled financial KPIs</a:t>
              </a:r>
            </a:p>
            <a:p>
              <a:endParaRPr lang="en-IN" sz="14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7F010D9-D8D0-38BB-D0ED-D63E642EBF74}"/>
              </a:ext>
            </a:extLst>
          </p:cNvPr>
          <p:cNvGrpSpPr/>
          <p:nvPr/>
        </p:nvGrpSpPr>
        <p:grpSpPr>
          <a:xfrm>
            <a:off x="9891102" y="4039232"/>
            <a:ext cx="2062264" cy="1164803"/>
            <a:chOff x="2288474" y="3892252"/>
            <a:chExt cx="2062264" cy="1164803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C6095A19-E803-B161-EB13-54F5760A3AF9}"/>
                </a:ext>
              </a:extLst>
            </p:cNvPr>
            <p:cNvSpPr/>
            <p:nvPr/>
          </p:nvSpPr>
          <p:spPr>
            <a:xfrm>
              <a:off x="2288474" y="3892252"/>
              <a:ext cx="2062264" cy="116480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515F14F-ECB2-ECBF-7E12-2FF01E7229E0}"/>
                </a:ext>
              </a:extLst>
            </p:cNvPr>
            <p:cNvSpPr txBox="1"/>
            <p:nvPr/>
          </p:nvSpPr>
          <p:spPr>
            <a:xfrm>
              <a:off x="2358324" y="3965723"/>
              <a:ext cx="1688830" cy="92333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IN" sz="2000" dirty="0">
                  <a:solidFill>
                    <a:srgbClr val="6246EA"/>
                  </a:solidFill>
                </a:rPr>
                <a:t>Business</a:t>
              </a:r>
              <a:r>
                <a:rPr lang="en-IN" sz="2000" dirty="0"/>
                <a:t> </a:t>
              </a:r>
            </a:p>
            <a:p>
              <a:r>
                <a:rPr lang="en-IN" sz="1400" dirty="0"/>
                <a:t>Insights</a:t>
              </a:r>
            </a:p>
            <a:p>
              <a:r>
                <a:rPr lang="en-IN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Expense drivers and variances</a:t>
              </a:r>
            </a:p>
          </p:txBody>
        </p:sp>
      </p:grp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051DD23-A9B7-F1C3-7487-297C64B058E4}"/>
              </a:ext>
            </a:extLst>
          </p:cNvPr>
          <p:cNvSpPr/>
          <p:nvPr/>
        </p:nvSpPr>
        <p:spPr>
          <a:xfrm>
            <a:off x="8845491" y="4165143"/>
            <a:ext cx="386455" cy="359597"/>
          </a:xfrm>
          <a:prstGeom prst="roundRect">
            <a:avLst/>
          </a:prstGeom>
          <a:solidFill>
            <a:srgbClr val="B9AAFF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C412621-D16B-AAC6-A5D1-F8A656D02AD4}"/>
              </a:ext>
            </a:extLst>
          </p:cNvPr>
          <p:cNvSpPr txBox="1"/>
          <p:nvPr/>
        </p:nvSpPr>
        <p:spPr>
          <a:xfrm>
            <a:off x="8810118" y="4172842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6246EA"/>
                </a:solidFill>
              </a:rPr>
              <a:t>&lt;/&gt;</a:t>
            </a:r>
            <a:endParaRPr lang="en-IN" sz="1400" dirty="0">
              <a:solidFill>
                <a:srgbClr val="6246EA"/>
              </a:solidFill>
            </a:endParaRPr>
          </a:p>
        </p:txBody>
      </p:sp>
      <p:pic>
        <p:nvPicPr>
          <p:cNvPr id="59" name="Graphic 58" descr="Signal with solid fill">
            <a:extLst>
              <a:ext uri="{FF2B5EF4-FFF2-40B4-BE49-F238E27FC236}">
                <a16:creationId xmlns:a16="http://schemas.microsoft.com/office/drawing/2014/main" id="{951D6F41-E659-AC37-D364-D9A8148E89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445312" y="4190840"/>
            <a:ext cx="274320" cy="274320"/>
          </a:xfrm>
          <a:prstGeom prst="rect">
            <a:avLst/>
          </a:prstGeom>
        </p:spPr>
      </p:pic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A9609AA5-7653-ABF4-2FE3-9A6E79A16A97}"/>
              </a:ext>
            </a:extLst>
          </p:cNvPr>
          <p:cNvSpPr/>
          <p:nvPr/>
        </p:nvSpPr>
        <p:spPr>
          <a:xfrm>
            <a:off x="11403293" y="4157595"/>
            <a:ext cx="386455" cy="359597"/>
          </a:xfrm>
          <a:prstGeom prst="roundRect">
            <a:avLst/>
          </a:prstGeom>
          <a:solidFill>
            <a:srgbClr val="B9AAFF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B1D1045-7083-0B8A-7684-592298C0D956}"/>
              </a:ext>
            </a:extLst>
          </p:cNvPr>
          <p:cNvSpPr txBox="1"/>
          <p:nvPr/>
        </p:nvSpPr>
        <p:spPr>
          <a:xfrm>
            <a:off x="2209758" y="3714680"/>
            <a:ext cx="2334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Key Achievements</a:t>
            </a:r>
            <a:endParaRPr lang="en-IN" sz="1400" b="1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D0FCDED-992B-354A-E9C8-AFD892E59032}"/>
              </a:ext>
            </a:extLst>
          </p:cNvPr>
          <p:cNvSpPr txBox="1"/>
          <p:nvPr/>
        </p:nvSpPr>
        <p:spPr>
          <a:xfrm>
            <a:off x="2209758" y="5287478"/>
            <a:ext cx="2334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Future Scope</a:t>
            </a:r>
            <a:endParaRPr lang="en-IN" sz="1400" b="1" dirty="0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65F25FA-2154-65CC-10AB-1A118B5C3289}"/>
              </a:ext>
            </a:extLst>
          </p:cNvPr>
          <p:cNvSpPr/>
          <p:nvPr/>
        </p:nvSpPr>
        <p:spPr>
          <a:xfrm>
            <a:off x="2288474" y="5563461"/>
            <a:ext cx="9664892" cy="1164803"/>
          </a:xfrm>
          <a:prstGeom prst="roundRect">
            <a:avLst/>
          </a:prstGeom>
          <a:solidFill>
            <a:srgbClr val="E7EAF2">
              <a:alpha val="68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8B09FF-BF41-09AE-9C69-A9C878BB9D0B}"/>
              </a:ext>
            </a:extLst>
          </p:cNvPr>
          <p:cNvSpPr txBox="1"/>
          <p:nvPr/>
        </p:nvSpPr>
        <p:spPr>
          <a:xfrm>
            <a:off x="2489676" y="5944434"/>
            <a:ext cx="2793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Automated Reporting</a:t>
            </a:r>
          </a:p>
          <a:p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Implement scheduled data refreshes and reporting.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1C3A3CD-0823-C82B-3A4B-7EB0400860BF}"/>
              </a:ext>
            </a:extLst>
          </p:cNvPr>
          <p:cNvSpPr txBox="1"/>
          <p:nvPr/>
        </p:nvSpPr>
        <p:spPr>
          <a:xfrm>
            <a:off x="5965960" y="5932318"/>
            <a:ext cx="2793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Extended Financial Analysis</a:t>
            </a:r>
          </a:p>
          <a:p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Compare additional reporting periods and cost patterns.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3E96259-95CB-00E4-A517-5772D62DFDC3}"/>
              </a:ext>
            </a:extLst>
          </p:cNvPr>
          <p:cNvSpPr txBox="1"/>
          <p:nvPr/>
        </p:nvSpPr>
        <p:spPr>
          <a:xfrm>
            <a:off x="9231946" y="5932318"/>
            <a:ext cx="27938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Improved Forecasting</a:t>
            </a:r>
          </a:p>
          <a:p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Assess forecast accuracy using verified comparable data</a:t>
            </a:r>
            <a:r>
              <a:rPr lang="en-IN" sz="1400" dirty="0"/>
              <a:t>.</a:t>
            </a:r>
          </a:p>
        </p:txBody>
      </p:sp>
      <p:pic>
        <p:nvPicPr>
          <p:cNvPr id="105" name="Graphic 104" descr="Arrow circle with solid fill">
            <a:extLst>
              <a:ext uri="{FF2B5EF4-FFF2-40B4-BE49-F238E27FC236}">
                <a16:creationId xmlns:a16="http://schemas.microsoft.com/office/drawing/2014/main" id="{A573A917-9301-7152-51DD-295AE0CF1B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489676" y="5595255"/>
            <a:ext cx="365760" cy="365760"/>
          </a:xfrm>
          <a:prstGeom prst="rect">
            <a:avLst/>
          </a:prstGeom>
        </p:spPr>
      </p:pic>
      <p:pic>
        <p:nvPicPr>
          <p:cNvPr id="107" name="Graphic 106" descr="Daily calendar with solid fill">
            <a:extLst>
              <a:ext uri="{FF2B5EF4-FFF2-40B4-BE49-F238E27FC236}">
                <a16:creationId xmlns:a16="http://schemas.microsoft.com/office/drawing/2014/main" id="{CE444B9A-A73C-B89F-B145-52FA8B0603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016239" y="5595255"/>
            <a:ext cx="365760" cy="365760"/>
          </a:xfrm>
          <a:prstGeom prst="rect">
            <a:avLst/>
          </a:prstGeom>
        </p:spPr>
      </p:pic>
      <p:pic>
        <p:nvPicPr>
          <p:cNvPr id="108" name="Graphic 107" descr="Bullseye with solid fill">
            <a:extLst>
              <a:ext uri="{FF2B5EF4-FFF2-40B4-BE49-F238E27FC236}">
                <a16:creationId xmlns:a16="http://schemas.microsoft.com/office/drawing/2014/main" id="{8EB51D86-B0B5-32F9-3BB8-6A63F5278A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9267318" y="5595255"/>
            <a:ext cx="365760" cy="365760"/>
          </a:xfrm>
          <a:prstGeom prst="rect">
            <a:avLst/>
          </a:prstGeom>
        </p:spPr>
      </p:pic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76AAC4B-03FB-50EC-30E8-86DE342B1F99}"/>
              </a:ext>
            </a:extLst>
          </p:cNvPr>
          <p:cNvCxnSpPr/>
          <p:nvPr/>
        </p:nvCxnSpPr>
        <p:spPr>
          <a:xfrm>
            <a:off x="5509260" y="5648595"/>
            <a:ext cx="0" cy="98339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9D027A7C-CA4F-E0B0-1597-EE7D3C738950}"/>
              </a:ext>
            </a:extLst>
          </p:cNvPr>
          <p:cNvCxnSpPr/>
          <p:nvPr/>
        </p:nvCxnSpPr>
        <p:spPr>
          <a:xfrm>
            <a:off x="8846820" y="5650992"/>
            <a:ext cx="0" cy="98339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910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2153</TotalTime>
  <Words>845</Words>
  <Application>Microsoft Office PowerPoint</Application>
  <PresentationFormat>Widescreen</PresentationFormat>
  <Paragraphs>284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Neue Haas Grotesk Text Pro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Persevex Data Analytics Internship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FinInsight | Interactive Financial Analytics</dc:title>
  <dc:subject>FinInsight — Expense Control and Profitability Analytics</dc:subject>
  <dc:creator>OpenAI for Shouary Verma</dc:creator>
  <cp:lastModifiedBy>shourya verma</cp:lastModifiedBy>
  <cp:revision>11</cp:revision>
  <dcterms:created xsi:type="dcterms:W3CDTF">2026-10-17T05:27:52Z</dcterms:created>
  <dcterms:modified xsi:type="dcterms:W3CDTF">2026-10-19T13:45:43Z</dcterms:modified>
</cp:coreProperties>
</file>